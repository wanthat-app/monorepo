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78" r:id="rId30"/>
    <p:sldId id="262" r:id="rId14"/>
    <p:sldId id="263" r:id="rId15"/>
    <p:sldId id="267" r:id="rId19"/>
    <p:sldId id="268" r:id="rId20"/>
    <p:sldId id="269" r:id="rId21"/>
    <p:sldId id="264" r:id="rId16"/>
    <p:sldId id="265" r:id="rId17"/>
    <p:sldId id="266" r:id="rId18"/>
    <p:sldId id="270" r:id="rId22"/>
    <p:sldId id="271" r:id="rId23"/>
    <p:sldId id="272" r:id="rId24"/>
    <p:sldId id="279" r:id="rId31"/>
    <p:sldId id="280" r:id="rId32"/>
    <p:sldId id="281" r:id="rId33"/>
    <p:sldId id="282" r:id="rId34"/>
    <p:sldId id="283" r:id="rId35"/>
    <p:sldId id="273" r:id="rId25"/>
    <p:sldId id="274" r:id="rId26"/>
    <p:sldId id="275" r:id="rId27"/>
    <p:sldId id="276" r:id="rId28"/>
    <p:sldId id="277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7.xml"/><Relationship Id="rId31" Type="http://schemas.openxmlformats.org/officeDocument/2006/relationships/slide" Target="slides/slide19.xml"/><Relationship Id="rId32" Type="http://schemas.openxmlformats.org/officeDocument/2006/relationships/slide" Target="slides/slide20.xml"/><Relationship Id="rId33" Type="http://schemas.openxmlformats.org/officeDocument/2006/relationships/slide" Target="slides/slide21.xml"/><Relationship Id="rId34" Type="http://schemas.openxmlformats.org/officeDocument/2006/relationships/slide" Target="slides/slide22.xml"/><Relationship Id="rId35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sentence: "Wanthat turns the product links people already send to friends into cashback — I'll show the product in two minutes, then spend the rest on how it's built."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word-of-mouth drives 20-50% of purchases and nobody pays for it. We are not building an influencer platform — the persona is a regular person in four family WhatsApp groups.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gates decide Phase 2 (group sharing, two-sided rewards) and a pre-seed raise.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whole loop is two taps for the member; the friend's landing carries the personal review, which is the trust mechanic. Screens are the design-handoff mocks.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note the "Estimated" chip — cashback is held in the settlement currency and the ILS headline is a display estimate (ADR-0017); conversion happens at withdrawal.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five drove every decision that follows; when two conflicted, cost and money-safety won.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(walk it left to right) (1) there is no auth service — the browser talks to Cognito directly; OTP rides a custom sender with WhatsApp-default and kill switches. (2) The member APIs split into non-VPC member-catalog and in-VPC member-wallet — only what touches money enters the VPC; the admin surface splits the same way (console vs ledger view). (3) The friend's click never leaves DynamoDB. (4) Money enters only through the scheduled pipeline on the right — retailer-settlement fetches, the in-VPC ledger-writer appends and returns the totals the poll projects back onto the links. Full per-table version lives in `docs/AWS_Architecture.md`.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asked why not one Postgres for everything — the redirect hot path must absorb viral spikes at zero idle cost, and the auth path must not depend on a relational database resume. (The data-homes diagram is in backup B6.)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Full sequence diagram in backup B4.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il-central-1 gaps shaped this too — no RDS Data API (killed the no-VPC data path), no Lambda Function URLs (landing sits behind an HTTP API).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sequence in backup B3. Unmatched orders are not dropped — they park in unattributed_order and an admin claim settles on the next heartbeat.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numbers are il-central-1 approximations; the point is the shape — a ~$20 measured floor, then linear with usage.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row is documented in an ADR or docs/AWS_Architecture.md — none of these are surprises.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Registration IS SignUp; OTP and passkey logins; the only Aurora touch is the wallet read.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Cache-first product resolve; on a miss member-catalog invokes retailer-linkgen, which calls AliExpress; both writes are same-table transactions.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Impression, click, purchase, 15-min poll, attribution resolve, append-only ledger + audit chain.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Only what touches Aurora enters the VPC; in-VPC functions cannot call out — every invoke arrow starts outside the VPC and the conversion chain is always settlement -&gt; writer; a NAT Gateway would be the single biggest fixed cost in the account.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split-by-guarantee is the next slide's architecture in miniature — PII never leaves Cognito, the viral read path never leaves DynamoDB, and money only ever APPENDS in Aurora. Per-column schemas are in backup B10/B11.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ADR-0005. The Cognito constraint means a hot multi-region identity tier is off the table regardless of budget - the SLA argument and the platform constraint point the same 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RPO minutes in-region via PITR; cross-region protects against region loss with RTO hours. Cognito PII has no cross-region recovery - a documented, accepted MVP limitation.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Alarm list is deliberately short - every alarm is actionable. Funnel events are business analytics, not ops noise.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chain is verifiable end-to-end with one SQL window query. When we scrubbed PII from historical payloads (2026-07), the migration recomputed the whole chain and it still verifies - an auditable rewrite, not a silent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Nine tables, all on-demand with PITR. The counter-in-table pattern keeps exact counts transactional without cross-table transactions.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image" Target="../media/image12.jpg"/><Relationship Id="rId4" Type="http://schemas.openxmlformats.org/officeDocument/2006/relationships/image" Target="../media/image13.png"/><Relationship Id="rId5" Type="http://schemas.openxmlformats.org/officeDocument/2006/relationships/image" Target="../media/image14.jpg"/><Relationship Id="rId6" Type="http://schemas.openxmlformats.org/officeDocument/2006/relationships/image" Target="../media/image15.jpg"/><Relationship Id="rId7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7.jpg"/><Relationship Id="rId4" Type="http://schemas.openxmlformats.org/officeDocument/2006/relationships/image" Target="../media/image18.jpg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image" Target="../media/image23.png"/><Relationship Id="rId7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2.png"/><Relationship Id="rId4" Type="http://schemas.openxmlformats.org/officeDocument/2006/relationships/notesSlide" Target="../notesSlides/notesSlide1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1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20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7FE0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173736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>
                <a:solidFill>
                  <a:srgbClr val="9DB6AB"/>
                </a:solidFill>
                <a:latin typeface="Space Mono"/>
              </a:rPr>
              <a:t>ISRAEL MVP  ·  AWS SERVERLESS  ·  IL-CENTRAL-1 (TEL AVIV)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7899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7200" b="1">
                <a:solidFill>
                  <a:srgbClr val="FFFFFF"/>
                </a:solidFill>
                <a:latin typeface="Space Grotesk"/>
              </a:rPr>
              <a:t>want</a:t>
            </a:r>
            <a:r>
              <a:rPr sz="7200" b="1">
                <a:solidFill>
                  <a:srgbClr val="7FE0B0"/>
                </a:solidFill>
                <a:latin typeface="Space Grotesk"/>
              </a:rPr>
              <a:t>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56616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600" b="0">
                <a:solidFill>
                  <a:srgbClr val="BFD3CB"/>
                </a:solidFill>
                <a:latin typeface="Space Grotesk"/>
              </a:rPr>
              <a:t>Earn cashback by sharing what you love.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3434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>
                <a:solidFill>
                  <a:srgbClr val="9DB6AB"/>
                </a:solidFill>
                <a:latin typeface="Hanken Grotesk"/>
              </a:rPr>
              <a:t>Product &amp; architecture overview — 19 minutes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5074920"/>
            <a:ext cx="1536192" cy="384048"/>
          </a:xfrm>
          <a:prstGeom prst="roundRect">
            <a:avLst>
              <a:gd name="adj" fmla="val 50000"/>
            </a:avLst>
          </a:prstGeom>
          <a:solidFill>
            <a:srgbClr val="1B2924"/>
          </a:solidFill>
          <a:ln w="12700">
            <a:solidFill>
              <a:srgbClr val="2E44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>
                <a:solidFill>
                  <a:srgbClr val="9DB6AB"/>
                </a:solidFill>
                <a:latin typeface="Space Mono"/>
              </a:rPr>
              <a:t>1 · the business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69463" y="5074920"/>
            <a:ext cx="1453896" cy="384048"/>
          </a:xfrm>
          <a:prstGeom prst="roundRect">
            <a:avLst>
              <a:gd name="adj" fmla="val 50000"/>
            </a:avLst>
          </a:prstGeom>
          <a:solidFill>
            <a:srgbClr val="1B2924"/>
          </a:solidFill>
          <a:ln w="12700">
            <a:solidFill>
              <a:srgbClr val="2E44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>
                <a:solidFill>
                  <a:srgbClr val="9DB6AB"/>
                </a:solidFill>
                <a:latin typeface="Space Mono"/>
              </a:rPr>
              <a:t>2 · the product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87952" y="5074920"/>
            <a:ext cx="1847088" cy="384048"/>
          </a:xfrm>
          <a:prstGeom prst="roundRect">
            <a:avLst>
              <a:gd name="adj" fmla="val 50000"/>
            </a:avLst>
          </a:prstGeom>
          <a:solidFill>
            <a:srgbClr val="1B2924"/>
          </a:solidFill>
          <a:ln w="12700">
            <a:solidFill>
              <a:srgbClr val="2E44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>
                <a:solidFill>
                  <a:srgbClr val="9DB6AB"/>
                </a:solidFill>
                <a:latin typeface="Space Mono"/>
              </a:rPr>
              <a:t>3 · the architecture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9632" y="5074920"/>
            <a:ext cx="1773936" cy="384048"/>
          </a:xfrm>
          <a:prstGeom prst="roundRect">
            <a:avLst>
              <a:gd name="adj" fmla="val 50000"/>
            </a:avLst>
          </a:prstGeom>
          <a:solidFill>
            <a:srgbClr val="1B2924"/>
          </a:solidFill>
          <a:ln w="12700">
            <a:solidFill>
              <a:srgbClr val="2E44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>
                <a:solidFill>
                  <a:srgbClr val="9DB6AB"/>
                </a:solidFill>
                <a:latin typeface="Space Mono"/>
              </a:rPr>
              <a:t>backup · deep dives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BUSINESS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500" b="1">
                <a:solidFill>
                  <a:srgbClr val="15201C"/>
                </a:solidFill>
                <a:latin typeface="Space Grotesk"/>
              </a:rPr>
              <a:t>Every everyday shopper becomes an affiliate — automatically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4592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>
                <a:solidFill>
                  <a:srgbClr val="8A968F"/>
                </a:solidFill>
                <a:latin typeface="Space Mono"/>
              </a:rPr>
              <a:t>THE GAP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956816"/>
            <a:ext cx="534924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68680" y="2139696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02_i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59" y="2208276"/>
            <a:ext cx="338328" cy="3383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472184" y="2176272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15201C"/>
                </a:solidFill>
                <a:latin typeface="Space Grotesk"/>
              </a:rPr>
              <a:t>Shoppers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2761488"/>
            <a:ext cx="494690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1150" b="0">
                <a:solidFill>
                  <a:srgbClr val="6B7B73"/>
                </a:solidFill>
                <a:latin typeface="Hanken Grotesk"/>
              </a:rPr>
              <a:t>share product links every day — "where did you get that?" — and earn nothing for the purchases they drive.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419856"/>
            <a:ext cx="534924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68680" y="3602736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02_i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7259" y="3671316"/>
            <a:ext cx="338328" cy="33832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472184" y="3639312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15201C"/>
                </a:solidFill>
                <a:latin typeface="Space Grotesk"/>
              </a:rPr>
              <a:t>Cashback platforms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224528"/>
            <a:ext cx="494690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1150" b="0">
                <a:solidFill>
                  <a:srgbClr val="6B7B73"/>
                </a:solidFill>
                <a:latin typeface="Hanken Grotesk"/>
              </a:rPr>
              <a:t>Rakuten and Honey reward passive shopping through their own portal; the social recommendation goes unpaid and unmeasured.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4882896"/>
            <a:ext cx="534924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68680" y="5065776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02_i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7259" y="5134356"/>
            <a:ext cx="338328" cy="33832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472184" y="5102352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15201C"/>
                </a:solidFill>
                <a:latin typeface="Space Grotesk"/>
              </a:rPr>
              <a:t>Brands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" y="5687568"/>
            <a:ext cx="494690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1150" b="0">
                <a:solidFill>
                  <a:srgbClr val="6B7B73"/>
                </a:solidFill>
                <a:latin typeface="Hanken Grotesk"/>
              </a:rPr>
              <a:t>influencer budgets keep growing while organic word-of-mouth — which converts better — stays invisible.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164592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>
                <a:solidFill>
                  <a:srgbClr val="1F7A57"/>
                </a:solidFill>
                <a:latin typeface="Space Mono"/>
              </a:rPr>
              <a:t>THE PRODUCT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46520" y="1956816"/>
            <a:ext cx="5074920" cy="4114800"/>
          </a:xfrm>
          <a:prstGeom prst="roundRect">
            <a:avLst>
              <a:gd name="adj" fmla="val 5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656832" y="2157984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s02_i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5412" y="2226564"/>
            <a:ext cx="338328" cy="33832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675120" y="2788920"/>
            <a:ext cx="46177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500" b="1">
                <a:solidFill>
                  <a:srgbClr val="15201C"/>
                </a:solidFill>
                <a:latin typeface="Hanken Grotesk"/>
              </a:rPr>
              <a:t>Wanthat turns the link you already send into a tracked affiliate link.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500" b="0">
                <a:solidFill>
                  <a:srgbClr val="15201C"/>
                </a:solidFill>
                <a:latin typeface="Hanken Grotesk"/>
              </a:rPr>
              <a:t>Wanthat is the single registered affiliate across AliExpress / Awin / eBay; when a friend buys, the commission flows in and the majority is credited back to the recommender as cashback.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400" b="1">
                <a:solidFill>
                  <a:srgbClr val="1F7A57"/>
                </a:solidFill>
                <a:latin typeface="Space Grotesk"/>
              </a:rPr>
              <a:t>It monetizes a behavior that already exists — without changing it.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BUSINESS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>
                <a:solidFill>
                  <a:srgbClr val="15201C"/>
                </a:solidFill>
                <a:latin typeface="Space Grotesk"/>
              </a:rPr>
              <a:t>Why Israel, why now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28800"/>
            <a:ext cx="3593592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602736" y="2029968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03_i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1315" y="2098548"/>
            <a:ext cx="338328" cy="3383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86968" y="1975104"/>
            <a:ext cx="267919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>
                <a:solidFill>
                  <a:srgbClr val="1F7A57"/>
                </a:solidFill>
                <a:latin typeface="Space Grotesk"/>
              </a:rPr>
              <a:t>66%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697480"/>
            <a:ext cx="319125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200" b="0">
                <a:solidFill>
                  <a:srgbClr val="6B7B73"/>
                </a:solidFill>
                <a:latin typeface="Hanken Grotesk"/>
              </a:rPr>
              <a:t>of Israeli online orders are AliExpress — the MVP integration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60" y="1828800"/>
            <a:ext cx="3593592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397496" y="2029968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03_i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66075" y="2098548"/>
            <a:ext cx="338328" cy="3383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681728" y="1975104"/>
            <a:ext cx="267919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>
                <a:solidFill>
                  <a:srgbClr val="1F7A57"/>
                </a:solidFill>
                <a:latin typeface="Space Grotesk"/>
              </a:rPr>
              <a:t>#1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81728" y="2697480"/>
            <a:ext cx="319125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200" b="0">
                <a:solidFill>
                  <a:srgbClr val="6B7B73"/>
                </a:solidFill>
                <a:latin typeface="Hanken Grotesk"/>
              </a:rPr>
              <a:t>WhatsApp penetration among the highest globally — group sharing is a daily habit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75320" y="1828800"/>
            <a:ext cx="3593592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92256" y="2029968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03_i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60836" y="2098548"/>
            <a:ext cx="338328" cy="33832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476488" y="1975104"/>
            <a:ext cx="267919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>
                <a:solidFill>
                  <a:srgbClr val="1F7A57"/>
                </a:solidFill>
                <a:latin typeface="Space Grotesk"/>
              </a:rPr>
              <a:t>$17B+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76488" y="2697480"/>
            <a:ext cx="319125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200" b="0">
                <a:solidFill>
                  <a:srgbClr val="6B7B73"/>
                </a:solidFill>
                <a:latin typeface="Hanken Grotesk"/>
              </a:rPr>
              <a:t>global affiliate market — a proven commercial model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4005072"/>
            <a:ext cx="3593592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602736" y="420624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s03_i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71315" y="4274820"/>
            <a:ext cx="338328" cy="3383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86968" y="4151376"/>
            <a:ext cx="267919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>
                <a:solidFill>
                  <a:srgbClr val="1F7A57"/>
                </a:solidFill>
                <a:latin typeface="Space Grotesk"/>
              </a:rPr>
              <a:t>3 days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6968" y="4873752"/>
            <a:ext cx="319125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200" b="0">
                <a:solidFill>
                  <a:srgbClr val="6B7B73"/>
                </a:solidFill>
                <a:latin typeface="Hanken Grotesk"/>
              </a:rPr>
              <a:t>AliExpress attribution window — sharing must be instant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80560" y="4005072"/>
            <a:ext cx="3593592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397496" y="420624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s03_i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66075" y="4274820"/>
            <a:ext cx="338328" cy="338328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4681728" y="4151376"/>
            <a:ext cx="267919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>
                <a:solidFill>
                  <a:srgbClr val="1F7A57"/>
                </a:solidFill>
                <a:latin typeface="Space Grotesk"/>
              </a:rPr>
              <a:t>₪20+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81728" y="4873752"/>
            <a:ext cx="319125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200" b="0">
                <a:solidFill>
                  <a:srgbClr val="6B7B73"/>
                </a:solidFill>
                <a:latin typeface="Hanken Grotesk"/>
              </a:rPr>
              <a:t>payout via bank / card / Bit / PayBox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75320" y="4005072"/>
            <a:ext cx="3593592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1192256" y="420624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s03_i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260836" y="4274820"/>
            <a:ext cx="338328" cy="338328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8476488" y="4151376"/>
            <a:ext cx="267919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>
                <a:solidFill>
                  <a:srgbClr val="1F7A57"/>
                </a:solidFill>
                <a:latin typeface="Space Grotesk"/>
              </a:rPr>
              <a:t>Month 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76488" y="4873752"/>
            <a:ext cx="319125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200" b="0">
                <a:solidFill>
                  <a:srgbClr val="6B7B73"/>
                </a:solidFill>
                <a:latin typeface="Hanken Grotesk"/>
              </a:rPr>
              <a:t>go/no-go gates: 500 active sharers · &gt;20% CTR · &gt;6% conversion · &gt;50% 30-day return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How it works — share a recommendation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" y="1700784"/>
            <a:ext cx="2112264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wanthat.app/create</a:t>
            </a:r>
          </a:p>
        </p:txBody>
      </p:sp>
      <p:pic>
        <p:nvPicPr>
          <p:cNvPr id="6" name="Picture 5" descr="flow-1-create-lin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03120"/>
            <a:ext cx="1883664" cy="3246120"/>
          </a:xfrm>
          <a:prstGeom prst="rect">
            <a:avLst/>
          </a:prstGeom>
          <a:ln w="12700">
            <a:solidFill>
              <a:srgbClr val="D2E3D9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274320" y="5440680"/>
            <a:ext cx="224942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1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Member pastes a product link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0" y="3493008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F7A57"/>
                </a:solidFill>
                <a:latin typeface="Hanken Grotesk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97479" y="1700784"/>
            <a:ext cx="2112264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wanthat.app/create</a:t>
            </a:r>
          </a:p>
        </p:txBody>
      </p:sp>
      <p:pic>
        <p:nvPicPr>
          <p:cNvPr id="10" name="Picture 9" descr="flow-2-link-read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07208" y="2103120"/>
            <a:ext cx="1883664" cy="3246120"/>
          </a:xfrm>
          <a:prstGeom prst="rect">
            <a:avLst/>
          </a:prstGeom>
          <a:ln w="12700">
            <a:solidFill>
              <a:srgbClr val="D2E3D9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2624327" y="5440680"/>
            <a:ext cx="224942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2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Link ready — product pulled, cashback split shown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6008" y="3493008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F7A57"/>
                </a:solidFill>
                <a:latin typeface="Hanken Grotesk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47488" y="1700784"/>
            <a:ext cx="2112264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WhatsApp — off-platform</a:t>
            </a:r>
          </a:p>
        </p:txBody>
      </p:sp>
      <p:pic>
        <p:nvPicPr>
          <p:cNvPr id="14" name="Picture 13" descr="flow-3-whatsapp-sha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57216" y="2103120"/>
            <a:ext cx="1883664" cy="3246120"/>
          </a:xfrm>
          <a:prstGeom prst="rect">
            <a:avLst/>
          </a:prstGeom>
          <a:ln w="12700">
            <a:solidFill>
              <a:srgbClr val="D2E3D9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4974336" y="5440680"/>
            <a:ext cx="224942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3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Shared on WhatsApp — disclosure included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3493008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F7A57"/>
                </a:solidFill>
                <a:latin typeface="Hanken Grotesk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97496" y="1700784"/>
            <a:ext cx="2112264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wanthat.app/p/Mx7Qa</a:t>
            </a:r>
          </a:p>
        </p:txBody>
      </p:sp>
      <p:pic>
        <p:nvPicPr>
          <p:cNvPr id="18" name="Picture 17" descr="flow-4-friend-landing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07223" y="2103120"/>
            <a:ext cx="1883664" cy="3246120"/>
          </a:xfrm>
          <a:prstGeom prst="rect">
            <a:avLst/>
          </a:prstGeom>
          <a:ln w="12700">
            <a:solidFill>
              <a:srgbClr val="D2E3D9"/>
            </a:solidFill>
          </a:ln>
        </p:spPr>
      </p:pic>
      <p:sp>
        <p:nvSpPr>
          <p:cNvPr id="19" name="TextBox 18"/>
          <p:cNvSpPr txBox="1"/>
          <p:nvPr/>
        </p:nvSpPr>
        <p:spPr>
          <a:xfrm>
            <a:off x="7324344" y="5440680"/>
            <a:ext cx="224942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4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Friend opens the branded landing — with the review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36024" y="3493008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F7A57"/>
                </a:solidFill>
                <a:latin typeface="Hanken Grotesk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747504" y="1700784"/>
            <a:ext cx="2112264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850" b="0">
                <a:solidFill>
                  <a:srgbClr val="6B7B73"/>
                </a:solidFill>
                <a:latin typeface="Space Mono"/>
              </a:rPr>
              <a:t>→ aliexpress.com — attributed</a:t>
            </a:r>
          </a:p>
        </p:txBody>
      </p:sp>
      <p:pic>
        <p:nvPicPr>
          <p:cNvPr id="22" name="Picture 21" descr="flow-5-redirect-stor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57232" y="2103120"/>
            <a:ext cx="1883664" cy="3246120"/>
          </a:xfrm>
          <a:prstGeom prst="rect">
            <a:avLst/>
          </a:prstGeom>
          <a:ln w="12700">
            <a:solidFill>
              <a:srgbClr val="D2E3D9"/>
            </a:solidFill>
          </a:ln>
        </p:spPr>
      </p:pic>
      <p:sp>
        <p:nvSpPr>
          <p:cNvPr id="23" name="TextBox 22"/>
          <p:cNvSpPr txBox="1"/>
          <p:nvPr/>
        </p:nvSpPr>
        <p:spPr>
          <a:xfrm>
            <a:off x="9674352" y="5440680"/>
            <a:ext cx="224942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5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Signed in, sent to the store — purchase attributed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How it works — the cashback comes back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" y="1700784"/>
            <a:ext cx="2322576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wanthat.app/activity</a:t>
            </a:r>
          </a:p>
        </p:txBody>
      </p:sp>
      <p:pic>
        <p:nvPicPr>
          <p:cNvPr id="6" name="Picture 5" descr="earn-1-activit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03120"/>
            <a:ext cx="2093976" cy="3611880"/>
          </a:xfrm>
          <a:prstGeom prst="rect">
            <a:avLst/>
          </a:prstGeom>
          <a:ln w="12700">
            <a:solidFill>
              <a:srgbClr val="D2E3D9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274320" y="5806440"/>
            <a:ext cx="245973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1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Conversion tracked — pending until the store confirms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96312" y="3685032"/>
            <a:ext cx="26243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F7A57"/>
                </a:solidFill>
                <a:latin typeface="Hanken Grotesk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37759" y="1700784"/>
            <a:ext cx="2322576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wanthat.app/home</a:t>
            </a:r>
          </a:p>
        </p:txBody>
      </p:sp>
      <p:pic>
        <p:nvPicPr>
          <p:cNvPr id="10" name="Picture 9" descr="earn-2-wallet-hom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7488" y="2103120"/>
            <a:ext cx="2093976" cy="3611880"/>
          </a:xfrm>
          <a:prstGeom prst="rect">
            <a:avLst/>
          </a:prstGeom>
          <a:ln w="12700">
            <a:solidFill>
              <a:srgbClr val="D2E3D9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4864607" y="5806440"/>
            <a:ext cx="245973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2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Wallet credited — estimated ILS over real currencies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86600" y="3685032"/>
            <a:ext cx="26243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F7A57"/>
                </a:solidFill>
                <a:latin typeface="Hanken Grotesk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28048" y="1700784"/>
            <a:ext cx="2322576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wanthat.app/withdraw</a:t>
            </a:r>
          </a:p>
        </p:txBody>
      </p:sp>
      <p:pic>
        <p:nvPicPr>
          <p:cNvPr id="14" name="Picture 13" descr="earn-3-withdraw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37776" y="2103120"/>
            <a:ext cx="2093976" cy="3611880"/>
          </a:xfrm>
          <a:prstGeom prst="rect">
            <a:avLst/>
          </a:prstGeom>
          <a:ln w="12700">
            <a:solidFill>
              <a:srgbClr val="D2E3D9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9454896" y="5806440"/>
            <a:ext cx="245973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3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Withdraw from ₪20 — bank, card, Bit or PayBox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>
                <a:solidFill>
                  <a:srgbClr val="15201C"/>
                </a:solidFill>
                <a:latin typeface="Space Grotesk"/>
              </a:rPr>
              <a:t>Engineering principles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874519"/>
            <a:ext cx="2157984" cy="3794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41247" y="2075688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06_i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827" y="2144268"/>
            <a:ext cx="338328" cy="3383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41247" y="2697480"/>
            <a:ext cx="1792224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1450" b="1">
                <a:solidFill>
                  <a:srgbClr val="15201C"/>
                </a:solidFill>
                <a:latin typeface="Space Grotesk"/>
              </a:rPr>
              <a:t>Monorepo, schema-first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3520440"/>
            <a:ext cx="1792224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100" b="0">
                <a:solidFill>
                  <a:srgbClr val="6B7B73"/>
                </a:solidFill>
                <a:latin typeface="Hanken Grotesk"/>
              </a:rPr>
              <a:t>pnpm + Turborepo, TypeScript everywhere (Node 24, arm64). Zod contracts in one package: inferred types + runtime validation at every boundary.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62656" y="1874519"/>
            <a:ext cx="2157984" cy="3794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145536" y="2075688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06_i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4116" y="2144268"/>
            <a:ext cx="338328" cy="3383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145536" y="2697480"/>
            <a:ext cx="1792224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1450" b="1">
                <a:solidFill>
                  <a:srgbClr val="15201C"/>
                </a:solidFill>
                <a:latin typeface="Space Grotesk"/>
              </a:rPr>
              <a:t>Everything as code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45536" y="3520440"/>
            <a:ext cx="1792224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100" b="0">
                <a:solidFill>
                  <a:srgbClr val="6B7B73"/>
                </a:solidFill>
                <a:latin typeface="Hanken Grotesk"/>
              </a:rPr>
              <a:t>AWS CDK v2; per-env stacks; zero console changes. PRs run CI + a cdk diff dry run; merge deploys dev, prod promotes explicitly; SQL migrations run in-deploy.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874519"/>
            <a:ext cx="2157984" cy="3794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449824" y="2075688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06_i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18404" y="2144268"/>
            <a:ext cx="338328" cy="33832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449824" y="2697480"/>
            <a:ext cx="1792224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1450" b="1">
                <a:solidFill>
                  <a:srgbClr val="15201C"/>
                </a:solidFill>
                <a:latin typeface="Space Grotesk"/>
              </a:rPr>
              <a:t>Decisions on record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49824" y="3520440"/>
            <a:ext cx="1792224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100" b="0">
                <a:solidFill>
                  <a:srgbClr val="6B7B73"/>
                </a:solidFill>
                <a:latin typeface="Hanken Grotesk"/>
              </a:rPr>
              <a:t>21 ADRs beside the code. Locked: change = a new superseding ADR, never an edit.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571232" y="1874519"/>
            <a:ext cx="2157984" cy="3794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754112" y="2075688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s06_i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22692" y="2144268"/>
            <a:ext cx="338328" cy="3383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754112" y="2697480"/>
            <a:ext cx="1792224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1450" b="1">
                <a:solidFill>
                  <a:srgbClr val="15201C"/>
                </a:solidFill>
                <a:latin typeface="Space Grotesk"/>
              </a:rPr>
              <a:t>Optimize for cost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54112" y="3520440"/>
            <a:ext cx="1792224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100" b="0">
                <a:solidFill>
                  <a:srgbClr val="6B7B73"/>
                </a:solidFill>
                <a:latin typeface="Hanken Grotesk"/>
              </a:rPr>
              <a:t>No NAT, no RDS Proxy, zero interface endpoints, scale-to-zero Aurora, on-demand DynamoDB. The dominant cost line is OTP delivery, not infrastructure.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875520" y="1874519"/>
            <a:ext cx="2157984" cy="3794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0058400" y="2075688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s06_i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26980" y="2144268"/>
            <a:ext cx="338328" cy="338328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0058400" y="2697480"/>
            <a:ext cx="1792224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1450" b="1">
                <a:solidFill>
                  <a:srgbClr val="15201C"/>
                </a:solidFill>
                <a:latin typeface="Space Grotesk"/>
              </a:rPr>
              <a:t>Zero to scale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0" y="3520440"/>
            <a:ext cx="1792224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100" b="0">
                <a:solidFill>
                  <a:srgbClr val="6B7B73"/>
                </a:solidFill>
                <a:latin typeface="Hanken Grotesk"/>
              </a:rPr>
              <a:t>A link going viral in a WhatsApp group is the design load: the redirect hot path is non-VPC Lambda + DynamoDB and never touches SQL.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500" b="1">
                <a:solidFill>
                  <a:srgbClr val="15201C"/>
                </a:solidFill>
                <a:latin typeface="Space Grotesk"/>
              </a:rPr>
              <a:t>Data model — three homes, one key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44168" y="1481328"/>
            <a:ext cx="9509760" cy="42062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7</a:t>
            </a:r>
          </a:p>
        </p:txBody>
      </p:sp>
      <p:pic>
        <p:nvPicPr>
          <p:cNvPr id="10" name="Picture 9" descr="slide-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48" y="2221857"/>
            <a:ext cx="9144000" cy="272518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58368" y="576072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6B7B73"/>
                </a:solidFill>
                <a:latin typeface="Hanken Grotesk"/>
              </a:rPr>
              <a:t>References across stores are soft — keys plus idempotency, never foreign keys or cross-store transactions. The Cognito sub ties PII, links and money together.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Architecture — the whole system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15319" y="1481328"/>
            <a:ext cx="4961056" cy="5084064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lide-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9911" y="1645920"/>
            <a:ext cx="4631872" cy="475488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DECISIONS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500" b="1">
                <a:solidFill>
                  <a:srgbClr val="15201C"/>
                </a:solidFill>
                <a:latin typeface="Space Grotesk"/>
              </a:rPr>
              <a:t>Data — one store per job, and what each costs us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783080"/>
          <a:ext cx="10881360" cy="14630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2926080"/>
                <a:gridCol w="3291840"/>
                <a:gridCol w="3246120"/>
              </a:tblGrid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Data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Decision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Why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Trade-off accepted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Money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Aurora Serverless v2 (0-2 ACU, IAM auth, no proxy)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ACID + Postgres GRANTs as the money invariant (one role per function: wallet_reader / ledger_reader SELECT-only, ledger_writer INSERT-only, audit_writer = audit_append only); SQL for reconciliation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Scale-to-zero cold resume ~20 s (60 s connect timeout + SPA warm-up probe); 50-connection cap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Customer PII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Cognito user attributes are the system of record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Auth path touches zero databases; GDPR delete = one call; backups carry no PII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ListUsers-only queries (no joins, one filter); no PITR; no attribute history. Escape hatch: dual-write projection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Operational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DynamoDB on-demand (9 tables)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Viral bursts absorbed at $0 idle; access patterns modeled as projections (byOwner, byState GSIs)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No joins, no ad-hoc queries; counters kept exact via same-table transactions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58368" y="5394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250" b="1">
                <a:solidFill>
                  <a:srgbClr val="15201C"/>
                </a:solidFill>
                <a:latin typeface="Hanken Grotesk"/>
              </a:rPr>
              <a:t>Deliberate constraint: </a:t>
            </a:r>
            <a:r>
              <a:rPr sz="1250" b="0">
                <a:solidFill>
                  <a:srgbClr val="6B7B73"/>
                </a:solidFill>
                <a:latin typeface="Hanken Grotesk"/>
              </a:rPr>
              <a:t>no cross-table transactions exist anywhere — counter rows live inside the counted table (single-table TransactWriteItems); ledger + audit are sequential idempotent appends behind a unique (order_id, kind, status) index. Cross-store consistency is by keys and idempotency, not coordination.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DECISIONS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Cost model — a measured floor, then linear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783080"/>
          <a:ext cx="10881360" cy="21945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08960"/>
                <a:gridCol w="2011680"/>
                <a:gridCol w="5760720"/>
              </a:tblGrid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Line item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Monthly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Note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Compute + APIs + DynamoDB idle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$0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Everything scales from zero; Aurora paused = storage only (~$2)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WAF (2 web ACLs + rules)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~$15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The deliberate fixed floor: CloudFront ACL + Cognito-pool ACL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Secrets, Route 53, misc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~$2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2 retailer secrets, hosted zone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OTP delivery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capped $1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SNS hard cap (SMS sandbox); WhatsApp ~10x cheaper per message at scale — hence WhatsApp-default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NAT / proxies / endpoints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$0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Architecturally eliminated (backup B2)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58368" y="4983480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15201C"/>
                </a:solidFill>
                <a:latin typeface="Hanken Grotesk"/>
              </a:rPr>
              <a:t>Costs accepted knowingly: </a:t>
            </a:r>
            <a:r>
              <a:rPr sz="1250" b="0">
                <a:solidFill>
                  <a:srgbClr val="6B7B73"/>
                </a:solidFill>
                <a:latin typeface="Hanken Grotesk"/>
              </a:rPr>
              <a:t>cold-resume UX risk on first wallet read (mitigated by warm-up probe); one AWS account for dev+prod shares SMS caps and quotas — flagged for split.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15201C"/>
                </a:solidFill>
                <a:latin typeface="Hanken Grotesk"/>
              </a:rPr>
              <a:t>Unit economics guardrail: </a:t>
            </a:r>
            <a:r>
              <a:rPr sz="1250" b="0">
                <a:solidFill>
                  <a:srgbClr val="6B7B73"/>
                </a:solidFill>
                <a:latin typeface="Hanken Grotesk"/>
              </a:rPr>
              <a:t>the redirect hot path costs micro-cents per thousand clicks and cannot touch Aurora — cost scales with revenue-bearing traffic, not with virality.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DECISIONS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500" b="1">
                <a:solidFill>
                  <a:srgbClr val="15201C"/>
                </a:solidFill>
                <a:latin typeface="Space Grotesk"/>
              </a:rPr>
              <a:t>Limits I know about — and their revisit triggers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737360"/>
          <a:ext cx="10881359" cy="25603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017520"/>
                <a:gridCol w="4114800"/>
                <a:gridCol w="3749039"/>
              </a:tblGrid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Limitation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Current stance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Revisit trigger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Single active region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Cross-region backups only; RTO = hours (ADR-0005)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Revenue SLA or user base that prices an active-standby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Cognito PII: no PITR, weak queries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Accepted for MVP; profile is thin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Compliance/BI needs → dual-write projection to SQL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JWT revocation lag &lt;= 1 h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Only member surface is a read-only wallet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Any sensitive member mutation → short tokens or in-handler check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Account concurrency = 10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No reserved concurrency anywhere (deliberate)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Quota raise, then per-function caps return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dev + prod in one account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Shared SMS cap and service quotas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Before marketing push: account split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Retailer throttling interim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Sequential + one ban-window retry (ADR-0021)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Poller volume growth or AliExpress app approval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58368" y="557784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200" b="1">
                <a:solidFill>
                  <a:srgbClr val="1F7A57"/>
                </a:solidFill>
                <a:latin typeface="Space Grotesk"/>
              </a:rPr>
              <a:t>Questions?</a:t>
            </a:r>
            <a:r>
              <a:rPr sz="1200" b="0">
                <a:solidFill>
                  <a:srgbClr val="8A968F"/>
                </a:solidFill>
                <a:latin typeface="Space Mono"/>
              </a:rPr>
              <a:t>    backup: sequence diagrams · failure modes · the rejected-alternatives list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20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7FE0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23774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>
                <a:solidFill>
                  <a:srgbClr val="9DB6AB"/>
                </a:solidFill>
                <a:latin typeface="Space Mono"/>
              </a:rPr>
              <a:t>Q&amp;A MATERIAL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743200"/>
            <a:ext cx="10058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6000" b="1">
                <a:solidFill>
                  <a:srgbClr val="FFFFFF"/>
                </a:solidFill>
                <a:latin typeface="Space Grotesk"/>
              </a:rPr>
              <a:t>Backup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977639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9DB6AB"/>
                </a:solidFill>
                <a:latin typeface="Hanken Grotesk"/>
              </a:rPr>
              <a:t>Decisions and trade-offs  ·  sequence diagrams  ·  schemas  ·  operations  ·  the ADR map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Auth — three options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783080"/>
            <a:ext cx="3611880" cy="2651760"/>
          </a:xfrm>
          <a:prstGeom prst="roundRect">
            <a:avLst>
              <a:gd name="adj" fmla="val 5000"/>
            </a:avLst>
          </a:prstGeom>
          <a:solidFill>
            <a:srgbClr val="FAF3E6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1965960"/>
            <a:ext cx="32461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1">
                <a:solidFill>
                  <a:srgbClr val="B07A1E"/>
                </a:solidFill>
                <a:latin typeface="Space Grotesk"/>
              </a:rPr>
              <a:t>A  </a:t>
            </a:r>
            <a:r>
              <a:rPr sz="1350" b="1">
                <a:solidFill>
                  <a:srgbClr val="15201C"/>
                </a:solidFill>
                <a:latin typeface="Space Grotesk"/>
              </a:rPr>
              <a:t>Cognito Managed Login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2560320"/>
            <a:ext cx="3246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050" b="0">
                <a:solidFill>
                  <a:srgbClr val="6B7B73"/>
                </a:solidFill>
                <a:latin typeface="Hanken Grotesk"/>
              </a:rPr>
              <a:t>Hosted pages, PKCE — zero auth code to own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3474720"/>
            <a:ext cx="324612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050" b="0">
                <a:solidFill>
                  <a:srgbClr val="15201C"/>
                </a:solidFill>
                <a:latin typeface="Hanken Grotesk"/>
              </a:rPr>
              <a:t>REJECTED: no Hebrew/RTL (12 locales, text not editable); passkey RP-ID forced to the auth subdomain — credentials siloed off wanthat.app.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1783080"/>
            <a:ext cx="3611880" cy="2651760"/>
          </a:xfrm>
          <a:prstGeom prst="roundRect">
            <a:avLst>
              <a:gd name="adj" fmla="val 5000"/>
            </a:avLst>
          </a:prstGeom>
          <a:solidFill>
            <a:srgbClr val="E7F1EC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1965960"/>
            <a:ext cx="32461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1">
                <a:solidFill>
                  <a:srgbClr val="1F7A57"/>
                </a:solidFill>
                <a:latin typeface="Space Grotesk"/>
              </a:rPr>
              <a:t>B  </a:t>
            </a:r>
            <a:r>
              <a:rPr sz="1350" b="1">
                <a:solidFill>
                  <a:srgbClr val="15201C"/>
                </a:solidFill>
                <a:latin typeface="Space Grotesk"/>
              </a:rPr>
              <a:t>Cognito-native, own UI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2560320"/>
            <a:ext cx="3246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050" b="0">
                <a:solidFill>
                  <a:srgbClr val="6B7B73"/>
                </a:solidFill>
                <a:latin typeface="Hanken Grotesk"/>
              </a:rPr>
              <a:t>Browser calls SignUp / InitiateAuth / WEB_AUTHN directly; profile = ID-token claims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3474720"/>
            <a:ext cx="324612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050" b="0">
                <a:solidFill>
                  <a:srgbClr val="15201C"/>
                </a:solidFill>
                <a:latin typeface="Hanken Grotesk"/>
              </a:rPr>
              <a:t>CHOSEN: zero backend calls to authenticate; full RTL UI; pool WAF + quotas as abuse control.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11312" y="1783080"/>
            <a:ext cx="3611880" cy="2651760"/>
          </a:xfrm>
          <a:prstGeom prst="roundRect">
            <a:avLst>
              <a:gd name="adj" fmla="val 5000"/>
            </a:avLst>
          </a:prstGeom>
          <a:solidFill>
            <a:srgbClr val="F4F6F5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94192" y="1965960"/>
            <a:ext cx="32461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1">
                <a:solidFill>
                  <a:srgbClr val="6B7B73"/>
                </a:solidFill>
                <a:latin typeface="Space Grotesk"/>
              </a:rPr>
              <a:t>C  </a:t>
            </a:r>
            <a:r>
              <a:rPr sz="1350" b="1">
                <a:solidFill>
                  <a:srgbClr val="15201C"/>
                </a:solidFill>
                <a:latin typeface="Space Grotesk"/>
              </a:rPr>
              <a:t>App-owned ceremonies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94192" y="2560320"/>
            <a:ext cx="3246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050" b="0">
                <a:solidFill>
                  <a:srgbClr val="6B7B73"/>
                </a:solidFill>
                <a:latin typeface="Hanken Grotesk"/>
              </a:rPr>
              <a:t>Proxy every OTP step, own WebAuthn store, Ed25519 ticket bridge, AdminSetUserPassword exchange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94192" y="3474720"/>
            <a:ext cx="324612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050" b="0">
                <a:solidFill>
                  <a:srgbClr val="15201C"/>
                </a:solidFill>
                <a:latin typeface="Hanken Grotesk"/>
              </a:rPr>
              <a:t>ALTERNATIVE — NOT PURSUED: 2 Lambdas + 3 tables + a crypto path buy exactly ONE feature — userless Face ID; the requirement was waived, so that cost buys nothing.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4709160"/>
            <a:ext cx="108813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15201C"/>
                </a:solidFill>
                <a:latin typeface="Hanken Grotesk"/>
              </a:rPr>
              <a:t>Trade-offs signed off with B: </a:t>
            </a:r>
            <a:r>
              <a:rPr sz="1250" b="0">
                <a:solidFill>
                  <a:srgbClr val="6B7B73"/>
                </a:solidFill>
                <a:latin typeface="Hanken Grotesk"/>
              </a:rPr>
              <a:t>userless Face ID waived (remembered-phone one-prompt kept); phone enumeration accepted (preventUserExistenceErrors LEGACY) — mitigated by pool WAF rate rules; JWT revocation lags up to 1 h on our APIs (stateless authorizer) — acceptable while the only member surface is a read-only wallet.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15201C"/>
                </a:solidFill>
                <a:latin typeface="Hanken Grotesk"/>
              </a:rPr>
              <a:t>Measured effect: </a:t>
            </a:r>
            <a:r>
              <a:rPr sz="1250" b="0">
                <a:solidFill>
                  <a:srgbClr val="6B7B73"/>
                </a:solidFill>
                <a:latin typeface="Hanken Grotesk"/>
              </a:rPr>
              <a:t>login requires zero backend calls; the Aurora cold-resume login stall (~20 s) is structurally impossible.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Network — pay for nothing that idles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783080"/>
          <a:ext cx="10881360" cy="1828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51760"/>
                <a:gridCol w="1920240"/>
                <a:gridCol w="6309360"/>
              </a:tblGrid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Component avoided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Fixed cost avoided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Replaced by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NAT Gateway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~$33/mo + $0.045/GB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Non-VPC functions call public AWS endpoints (IAM + TLS); the only true internet egress is the retailer tier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VPC interface endpoints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~$7-15/mo each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Zero needed: nothing in-VPC calls Cognito, Secrets Manager, or the internet — by design, not by exception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RDS Proxy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per-ACU hourly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Direct IAM DB auth; 50-connection cap + no reserved concurrency keeps pressure bounded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DynamoDB access from VPC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—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Free gateway endpoint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58368" y="4434840"/>
            <a:ext cx="1088136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15201C"/>
                </a:solidFill>
                <a:latin typeface="Hanken Grotesk"/>
              </a:rPr>
              <a:t>Structural consequence: </a:t>
            </a:r>
            <a:r>
              <a:rPr sz="1250" b="0">
                <a:solidFill>
                  <a:srgbClr val="6B7B73"/>
                </a:solidFill>
                <a:latin typeface="Hanken Grotesk"/>
              </a:rPr>
              <a:t>in-VPC functions cannot initiate outward calls — the conversion chain is always proxy → writer (invoke), and admin claim intents settle asynchronously on the next poll heartbeat.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15201C"/>
                </a:solidFill>
                <a:latin typeface="Hanken Grotesk"/>
              </a:rPr>
              <a:t>Blast-radius bonus: </a:t>
            </a:r>
            <a:r>
              <a:rPr sz="1250" b="0">
                <a:solidFill>
                  <a:srgbClr val="6B7B73"/>
                </a:solidFill>
                <a:latin typeface="Hanken Grotesk"/>
              </a:rPr>
              <a:t>the retailer credential is readable by exactly one non-VPC function; a compromised in-VPC function has no path to it or to the internet.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15201C"/>
                </a:solidFill>
                <a:latin typeface="Hanken Grotesk"/>
              </a:rPr>
              <a:t>Revisit trigger: </a:t>
            </a:r>
            <a:r>
              <a:rPr sz="1250" b="0">
                <a:solidFill>
                  <a:srgbClr val="6B7B73"/>
                </a:solidFill>
                <a:latin typeface="Hanken Grotesk"/>
              </a:rPr>
              <a:t>sustained Aurora connection pressure (alarm at 80% of 50) → RDS Proxy; steady traffic → reserved concurrency once the account quota (10) is raised.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Money — poll over webhook, append over update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783080"/>
            <a:ext cx="534924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84248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15201C"/>
                </a:solidFill>
                <a:latin typeface="Space Grotesk"/>
              </a:rPr>
              <a:t>Ingestion: scheduled reconciliation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514600"/>
            <a:ext cx="49377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</a:t>
            </a:r>
            <a:r>
              <a:rPr sz="1150" b="0">
                <a:solidFill>
                  <a:srgbClr val="6B7B73"/>
                </a:solidFill>
                <a:latin typeface="Hanken Grotesk"/>
              </a:rPr>
              <a:t>Webhooks rejected: an inbound money-bearing endpoint is a spoofing surface, needs ordering and retry semantics, and the retailer offers no reliable one anyway (ADR-0009).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</a:t>
            </a:r>
            <a:r>
              <a:rPr sz="1150" b="0">
                <a:solidFill>
                  <a:srgbClr val="6B7B73"/>
                </a:solidFill>
                <a:latin typeface="Hanken Grotesk"/>
              </a:rPr>
              <a:t>Poll = a cursor in poller_state + listOrdersByIndex every 15 min: replayable from any point, idempotent by the ledger unique index, nothing to authenticate inbound.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</a:t>
            </a:r>
            <a:r>
              <a:rPr sz="1150" b="0">
                <a:solidFill>
                  <a:srgbClr val="6B7B73"/>
                </a:solidFill>
                <a:latin typeface="Hanken Grotesk"/>
              </a:rPr>
              <a:t>Accepted latency: minutes to surface, 24-48 h to confirm (retailer settlement dominates — the product promise is days, not seconds).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</a:t>
            </a:r>
            <a:r>
              <a:rPr sz="1150" b="0">
                <a:solidFill>
                  <a:srgbClr val="6B7B73"/>
                </a:solidFill>
                <a:latin typeface="Hanken Grotesk"/>
              </a:rPr>
              <a:t>Interim throttling (ADR-0021): sequential calls + one ban-window retry; revisit at volume.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2" y="1783080"/>
            <a:ext cx="534924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9944" y="1984248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15201C"/>
                </a:solidFill>
                <a:latin typeface="Space Grotesk"/>
              </a:rPr>
              <a:t>Storage: append-only + GRANT-enforced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9944" y="2514600"/>
            <a:ext cx="49377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</a:t>
            </a:r>
            <a:r>
              <a:rPr sz="1150" b="0">
                <a:solidFill>
                  <a:srgbClr val="6B7B73"/>
                </a:solidFill>
                <a:latin typeface="Hanken Grotesk"/>
              </a:rPr>
              <a:t>Lifecycle is data, not mutation: pending → confirmed → clawback are separate immutable rows; balances are always derived.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</a:t>
            </a:r>
            <a:r>
              <a:rPr sz="1150" b="0">
                <a:solidFill>
                  <a:srgbClr val="6B7B73"/>
                </a:solidFill>
                <a:latin typeface="Hanken Grotesk"/>
              </a:rPr>
              <a:t>The invariant lives in Postgres, not app code: UPDATE/DELETE revoked from every role; only ledger_writer can INSERT; audit_append is SECURITY DEFINER and the only door into the audit log.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</a:t>
            </a:r>
            <a:r>
              <a:rPr sz="1150" b="0">
                <a:solidFill>
                  <a:srgbClr val="6B7B73"/>
                </a:solidFill>
                <a:latin typeface="Hanken Grotesk"/>
              </a:rPr>
              <a:t>Hash-chained audit log makes tampering evident; admin config changes audit the same way.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</a:t>
            </a:r>
            <a:r>
              <a:rPr sz="1150" b="0">
                <a:solidFill>
                  <a:srgbClr val="6B7B73"/>
                </a:solidFill>
                <a:latin typeface="Hanken Grotesk"/>
              </a:rPr>
              <a:t>Blast radius: a bug or compromise in any read path has zero write capability on money.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Sequence — customer auth, all four flows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904158" y="1618488"/>
            <a:ext cx="6383378" cy="4901184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lide-B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8750" y="1783080"/>
            <a:ext cx="6054194" cy="4572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Sequence — create a link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5464" y="1618488"/>
            <a:ext cx="10580767" cy="4901184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lide-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0056" y="1783080"/>
            <a:ext cx="10251583" cy="4572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Sequence — click to ledger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73455" y="1879849"/>
            <a:ext cx="10844784" cy="43784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lide-B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047" y="2044441"/>
            <a:ext cx="10515600" cy="404927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Trade-off — HA vs single region (ADR-0005)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783080"/>
            <a:ext cx="534924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84248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15201C"/>
                </a:solidFill>
                <a:latin typeface="Space Grotesk"/>
              </a:rPr>
              <a:t>Chosen: single active region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514600"/>
            <a:ext cx="49377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Target: 99.5% availability (~3.6 h/month) — lenient by design for an MVP.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il-central-1 active; eu-central-1 is a RESTORE target, not a standby.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RPO ~minutes (PITR); RTO ~hours (region-loss rebuild from cross-region copies).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Hard constraint: Cognito has NO multi-region replication in il-central-1 — hot identity failover is not natively possible at any spend.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2" y="1783080"/>
            <a:ext cx="534924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9944" y="1984248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15201C"/>
                </a:solidFill>
                <a:latin typeface="Space Grotesk"/>
              </a:rPr>
              <a:t>Rejected, and when to revisit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9944" y="2514600"/>
            <a:ext cx="49377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Active-passive multi-region now: not required for 99.5%; identity failover would be non-native anyway; unjustified cost + complexity at MVP.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In-region backups only: a region incident would lose a money ledger — unacceptable at any SLA.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Revisit: an SLA beyond 99.5%, or identity region-loss recovery becoming a hard requirement.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Backup strategy (ADR-0005)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B8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58368" y="1737360"/>
          <a:ext cx="1088136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3627120"/>
                <a:gridCol w="3627120"/>
              </a:tblGrid>
              <a:tr h="5181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Data</a:t>
                      </a:r>
                    </a:p>
                  </a:txBody>
                  <a:tcPr>
                    <a:solidFill>
                      <a:srgbClr val="1520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In-region</a:t>
                      </a:r>
                    </a:p>
                  </a:txBody>
                  <a:tcPr>
                    <a:solidFill>
                      <a:srgbClr val="1520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Cross-region (eu-central-1)</a:t>
                      </a:r>
                    </a:p>
                  </a:txBody>
                  <a:tcPr>
                    <a:solidFill>
                      <a:srgbClr val="15201C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Aurora ledger + audit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PITR, continuous — RPO ~minutes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Automated-snapshot copy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DynamoDB (9 tables)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PITR on every table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Export / copy for the redirect projection + attribution map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Funnel + audit events (S3)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Versioning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Cross-region replication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Secrets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Secrets Manager replication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Cognito (identity + ALL PII)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Managed by the pool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NONE — no cross-region recovery in MVP (accepted, documented)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58368" y="5120640"/>
            <a:ext cx="10881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6B7B73"/>
                </a:solidFill>
                <a:latin typeface="Hanken Grotesk"/>
              </a:rPr>
              <a:t>The hash-chained audit log complements backups: restores are tamper-evident, not just recoverable.</a:t>
            </a:r>
          </a:p>
          <a:p>
            <a:r>
              <a:rPr sz="1200">
                <a:solidFill>
                  <a:srgbClr val="6B7B73"/>
                </a:solidFill>
                <a:latin typeface="Hanken Grotesk"/>
              </a:rPr>
              <a:t>Status honesty: PITR is live everywhere; the cross-region copy jobs are the one deferred item of ADR-0005 — tracked, not yet deployed.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Observability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783080"/>
            <a:ext cx="3611880" cy="2651760"/>
          </a:xfrm>
          <a:prstGeom prst="roundRect">
            <a:avLst>
              <a:gd name="adj" fmla="val 5000"/>
            </a:avLst>
          </a:prstGeom>
          <a:solidFill>
            <a:srgbClr val="FAF3E6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1965960"/>
            <a:ext cx="32461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1">
                <a:solidFill>
                  <a:srgbClr val="B07A1E"/>
                </a:solidFill>
                <a:latin typeface="Space Grotesk"/>
              </a:rPr>
              <a:t>See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2560320"/>
            <a:ext cx="3246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050" b="0">
                <a:solidFill>
                  <a:srgbClr val="6B7B73"/>
                </a:solidFill>
                <a:latin typeface="Hanken Grotesk"/>
              </a:rPr>
              <a:t>Per-surface CloudWatch dashboards: API count / 5xx / p95, Lambda errors / throttles / p95, Aurora ACU + connections, SMS spend. Edge dashboard (CloudFront + WAF) in us-east-1.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3474720"/>
            <a:ext cx="324612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050" b="0">
                <a:solidFill>
                  <a:srgbClr val="15201C"/>
                </a:solidFill>
                <a:latin typeface="Hanken Grotesk"/>
              </a:rPr>
              <a:t>X-Ray tracing on every function; structured logs with retention bounds — dev 1 month, prod 6 months.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1783080"/>
            <a:ext cx="3611880" cy="2651760"/>
          </a:xfrm>
          <a:prstGeom prst="roundRect">
            <a:avLst>
              <a:gd name="adj" fmla="val 5000"/>
            </a:avLst>
          </a:prstGeom>
          <a:solidFill>
            <a:srgbClr val="E7F1EC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1965960"/>
            <a:ext cx="32461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1">
                <a:solidFill>
                  <a:srgbClr val="1F7A57"/>
                </a:solidFill>
                <a:latin typeface="Space Grotesk"/>
              </a:rPr>
              <a:t>Alert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2560320"/>
            <a:ext cx="3246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050" b="0">
                <a:solidFill>
                  <a:srgbClr val="6B7B73"/>
                </a:solidFill>
                <a:latin typeface="Hanken Grotesk"/>
              </a:rPr>
              <a:t>SNS -&gt; ops email: per-Lambda errors (13 steady-state functions), per-API 5xx, Aurora connections at 80% of the 50 cap, month-to-date SMS spend at 80% of the cap.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3474720"/>
            <a:ext cx="324612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050" b="0">
                <a:solidFill>
                  <a:srgbClr val="15201C"/>
                </a:solidFill>
                <a:latin typeface="Hanken Grotesk"/>
              </a:rPr>
              <a:t>The two deploy-time triggers are excluded BY DESIGN — their failure fails the deploy itself.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11312" y="1783080"/>
            <a:ext cx="3611880" cy="2651760"/>
          </a:xfrm>
          <a:prstGeom prst="roundRect">
            <a:avLst>
              <a:gd name="adj" fmla="val 5000"/>
            </a:avLst>
          </a:prstGeom>
          <a:solidFill>
            <a:srgbClr val="F4F6F5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94192" y="1965960"/>
            <a:ext cx="32461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1">
                <a:solidFill>
                  <a:srgbClr val="6B7B73"/>
                </a:solidFill>
                <a:latin typeface="Space Grotesk"/>
              </a:rPr>
              <a:t>Analyze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94192" y="2560320"/>
            <a:ext cx="3246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050" b="0">
                <a:solidFill>
                  <a:srgbClr val="6B7B73"/>
                </a:solidFill>
                <a:latin typeface="Hanken Grotesk"/>
              </a:rPr>
              <a:t>Funnel pipeline: CloudWatch Logs subscription filters on landing / retailer-settlement / ledger-writer pick impression, click, conversion, order_untracked.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94192" y="3474720"/>
            <a:ext cx="324612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050" b="0">
                <a:solidFill>
                  <a:srgbClr val="15201C"/>
                </a:solidFill>
                <a:latin typeface="Hanken Grotesk"/>
              </a:rPr>
              <a:t>-&gt; Firehose -&gt; date-partitioned S3 -&gt; Glue -&gt; Athena with partition projection.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4709160"/>
            <a:ext cx="108813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15201C"/>
                </a:solidFill>
                <a:latin typeface="Hanken Grotesk"/>
              </a:rPr>
              <a:t>The alarm list is deliberately short — every alarm is actionable; funnel events are business analytics, not ops noise, which is why they leave CloudWatch.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Aurora schema + the hash chain — conceptual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783080"/>
            <a:ext cx="5349240" cy="2880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84248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15201C"/>
                </a:solidFill>
                <a:latin typeface="Space Grotesk"/>
              </a:rPr>
              <a:t>wallet_entry — the append-only ledger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514600"/>
            <a:ext cx="493776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id, cognito_sub, kind, amount_minor, currency, order_id, recommendation_id, status, created_at — no FK anywhere (the user store is Cognito).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Lifecycle is rows, not updates: pending -&gt; confirmed -&gt; clawback are separate immutable appends; balances are always derived.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Unique (order_id, kind, status) = poll idempotency; UPDATE / DELETE revoked from every role — one Postgres role per function is the enforcement layer.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2" y="1783080"/>
            <a:ext cx="5349240" cy="2880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9944" y="1984248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15201C"/>
                </a:solidFill>
                <a:latin typeface="Space Grotesk"/>
              </a:rPr>
              <a:t>audit_log — hash-chained events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9944" y="2514600"/>
            <a:ext cx="493776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id, prev_hash, entry_hash, payload jsonb, created_at.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SECURITY DEFINER audit_append is the ONLY door in — an advisory lock serializes writers so the chain can never fork.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entry_hash = sha256(prev_hash | payload | epoch(created_at)) — any edit anywhere breaks every later hash.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B10</a:t>
            </a:r>
          </a:p>
        </p:txBody>
      </p:sp>
      <p:pic>
        <p:nvPicPr>
          <p:cNvPr id="14" name="Picture 13" descr="slide-b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4340" y="4892040"/>
            <a:ext cx="6649416" cy="141732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DynamoDB schemas + GSIs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B11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58368" y="1600200"/>
          <a:ext cx="10881360" cy="3749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0340"/>
                <a:gridCol w="2720340"/>
                <a:gridCol w="2720340"/>
                <a:gridCol w="2720340"/>
              </a:tblGrid>
              <a:tr h="374903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Table</a:t>
                      </a:r>
                    </a:p>
                  </a:txBody>
                  <a:tcPr>
                    <a:solidFill>
                      <a:srgbClr val="1520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Keys</a:t>
                      </a:r>
                    </a:p>
                  </a:txBody>
                  <a:tcPr>
                    <a:solidFill>
                      <a:srgbClr val="1520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GSI / extras</a:t>
                      </a:r>
                    </a:p>
                  </a:txBody>
                  <a:tcPr>
                    <a:solidFill>
                      <a:srgbClr val="1520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Purpose</a:t>
                      </a:r>
                    </a:p>
                  </a:txBody>
                  <a:tcPr>
                    <a:solidFill>
                      <a:srgbClr val="15201C"/>
                    </a:solidFill>
                  </a:tcPr>
                </a:tc>
              </a:tr>
              <a:tr h="374903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product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storeId + storeProductId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counter row in-table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retailer product cache (linkgen sole writer)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recommendation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recommendationId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byOwner (ownerId, createdAt) + counter row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short-link projection + per-link stats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guest_attribution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guestId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guest -&gt; member carry-over at signup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poller_state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stateKey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order-poll cursor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unattributed_order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orderId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byState (state, firstSeenAt)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admin claim queue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runtime_config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configKey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kill switches (admin-console sole writer)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ops_counters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counterKey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exact counters + daily stats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fx_rate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pair (USD#ILS)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FX display-estimate cache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4912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otp_sink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phone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TTL 5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parked OTP codes (admin view)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58368" y="5532120"/>
            <a:ext cx="10881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6B7B73"/>
                </a:solidFill>
                <a:latin typeface="Hanken Grotesk"/>
              </a:rPr>
              <a:t>All on-demand + PITR. Exact counters: the #counter sentinel row lives INSIDE the counted table — create/delete + ADD itemCount ride ONE same-table TransactWriteItems (sparse: no ownerId, so GSIs exclude it).</a:t>
            </a:r>
          </a:p>
          <a:p>
            <a:r>
              <a:rPr sz="1200">
                <a:solidFill>
                  <a:srgbClr val="6B7B73"/>
                </a:solidFill>
                <a:latin typeface="Hanken Grotesk"/>
              </a:rPr>
              <a:t>No cross-table transaction exists anywhere — cross-entity consistency is keys + idempotent writes, by design.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ADR map — locked: supersede, never edit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28800"/>
            <a:ext cx="3566160" cy="4297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68680" y="2011680"/>
            <a:ext cx="402336" cy="402336"/>
          </a:xfrm>
          <a:prstGeom prst="roundRect">
            <a:avLst>
              <a:gd name="adj" fmla="val 22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03_i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2066544"/>
            <a:ext cx="292608" cy="29260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380744" y="2048256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1">
                <a:solidFill>
                  <a:srgbClr val="15201C"/>
                </a:solidFill>
                <a:latin typeface="Space Grotesk"/>
              </a:rPr>
              <a:t>Architecture · 0001-0009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606040"/>
            <a:ext cx="320040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0001  monorepo + Zod contracts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0002  compute seams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0003  polyglot data, no RDS Proxy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0004  NAT-free network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0005  single region + backups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0006  Cognito-native auth + PII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0007  landing path + latency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0008  attribution: custom_parameters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0009  poller, not webhook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60" y="1828800"/>
            <a:ext cx="3566160" cy="4297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663440" y="2011680"/>
            <a:ext cx="402336" cy="402336"/>
          </a:xfrm>
          <a:prstGeom prst="roundRect">
            <a:avLst>
              <a:gd name="adj" fmla="val 22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18_i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8304" y="2066544"/>
            <a:ext cx="292608" cy="2926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175504" y="2048256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1">
                <a:solidFill>
                  <a:srgbClr val="15201C"/>
                </a:solidFill>
                <a:latin typeface="Space Grotesk"/>
              </a:rPr>
              <a:t>Stack · 0010-0016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81728" y="2606040"/>
            <a:ext cx="320040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0010  ESM / Node 24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0011  Hono + Powertools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0012  Kysely + SQL migrations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0013  Vitest + Testcontainers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0014  Biome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0015  GitHub Actions OIDC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0016  Vite SPA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75320" y="1828800"/>
            <a:ext cx="3566160" cy="4297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58200" y="2011680"/>
            <a:ext cx="402336" cy="402336"/>
          </a:xfrm>
          <a:prstGeom prst="roundRect">
            <a:avLst>
              <a:gd name="adj" fmla="val 22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18_i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13064" y="2066544"/>
            <a:ext cx="292608" cy="29260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970264" y="2048256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1">
                <a:solidFill>
                  <a:srgbClr val="15201C"/>
                </a:solidFill>
                <a:latin typeface="Space Grotesk"/>
              </a:rPr>
              <a:t>Extensions · 0017-0021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76488" y="2606040"/>
            <a:ext cx="320040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0017  currency + FX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0018  CloudFront front door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0019  WhatsApp messaging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0020  sub = canonical id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0021  retailer throttling (interim)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B12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500" b="1">
                <a:solidFill>
                  <a:srgbClr val="15201C"/>
                </a:solidFill>
                <a:latin typeface="Space Grotesk"/>
              </a:rPr>
              <a:t>ADR-0002 + 0004 — compute seams and the NAT-free bet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115872" y="1618488"/>
            <a:ext cx="5959951" cy="4535424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lide-B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0464" y="1783080"/>
            <a:ext cx="5630767" cy="42062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B13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ADR-0003 + 0006 — where data lives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679295" y="1664883"/>
            <a:ext cx="8833104" cy="297959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lide-B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3887" y="1829475"/>
            <a:ext cx="8503920" cy="265040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4846320"/>
            <a:ext cx="1060704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200" b="1">
                <a:solidFill>
                  <a:srgbClr val="1F7A57"/>
                </a:solidFill>
                <a:latin typeface="Hanken Grotesk"/>
              </a:rPr>
              <a:t>—  </a:t>
            </a:r>
            <a:r>
              <a:rPr sz="1200" b="0">
                <a:solidFill>
                  <a:srgbClr val="6B7B73"/>
                </a:solidFill>
                <a:latin typeface="Hanken Grotesk"/>
              </a:rPr>
              <a:t>The customer table was dropped when PII moved to Cognito (migration 0006_money_only) — the ledger is keyed by the Cognito sub directly.</a:t>
            </a:r>
          </a:p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200" b="1">
                <a:solidFill>
                  <a:srgbClr val="1F7A57"/>
                </a:solidFill>
                <a:latin typeface="Hanken Grotesk"/>
              </a:rPr>
              <a:t>—  </a:t>
            </a:r>
            <a:r>
              <a:rPr sz="1200" b="0">
                <a:solidFill>
                  <a:srgbClr val="6B7B73"/>
                </a:solidFill>
                <a:latin typeface="Hanken Grotesk"/>
              </a:rPr>
              <a:t>Admin user search runs on ListUsers (one-attribute filters); fine at MVP scale — dual-write projection is the escape hatch.</a:t>
            </a:r>
          </a:p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200" b="1">
                <a:solidFill>
                  <a:srgbClr val="1F7A57"/>
                </a:solidFill>
                <a:latin typeface="Hanken Grotesk"/>
              </a:rPr>
              <a:t>—  </a:t>
            </a:r>
            <a:r>
              <a:rPr sz="1200" b="0">
                <a:solidFill>
                  <a:srgbClr val="6B7B73"/>
                </a:solidFill>
                <a:latin typeface="Hanken Grotesk"/>
              </a:rPr>
              <a:t>Trade-offs accepted: no SQL over PII, no PITR for the user pool, attribute changes have no built-in history.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B14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Failure modes and recovery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737360"/>
          <a:ext cx="10881360" cy="25603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34640"/>
                <a:gridCol w="4206240"/>
                <a:gridCol w="3840480"/>
              </a:tblGrid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Failure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Behavior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Recovery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Aurora cold resume (~20 s)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First wallet read after idle stalls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SPA fires /healthz/db warm-up probe on auth screens; 60 s connect timeout rides it out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AliExpress ApiCallLimit ban window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Poll heartbeat calls rejected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Sequential calls + one ban-window retry (ADR-0021); cursor unmoved → next beat replays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WhatsApp delivery down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OTP channel unavailable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Sticky-preference fallback to SMS; runtime-config kill switches; SNS spend cap bounds abuse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Settlement poll crash mid-batch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Partial writes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Cursor advances only after batch; ledger unique index + absolute stat SETs make replays no-ops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Notification invoke keeps failing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Welcome message undelivered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Lambda async retry x2 → real-payload SQS DLQ (redrivable); kill-switched skips return success and never DLQ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Cognito outage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No new logins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Static SPA still serves; landing redirect works for guests (DynamoDB-only path)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B15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Rejected alternatives — the graveyard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737360"/>
          <a:ext cx="10881360" cy="3291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08960"/>
                <a:gridCol w="7772400"/>
              </a:tblGrid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Alternative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Why not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RDS Data API (no-VPC SQL)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Not available in il-central-1 — verified, killed the design branch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Lambda Function URLs for landing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Not available in il-central-1 → HTTP API behind CloudFront /p/*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NAT + interface endpoints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Fixed monthly cost for idle capability; non-VPC chaining is $0 and least-privilege by construction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RDS Proxy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Cost + unneeded at 50-connection scale; revisit on connection-pressure alarm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Managed Login for customers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No Hebrew/RTL; passkey RP-ID silo on the auth subdomain (kept for the admin console, where it fits)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Conversion webhooks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Spoofable inbound money surface + no reliable retailer support; reconciliation poll is replayable and auditable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Self-minted session JWTs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A second token validation path across every API; Cognito stays the only issuer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Aurora customer table (PII in SQL)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Kept Aurora on the auth path and PII in two stores; moved to Cognito attributes (ADR-0006)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