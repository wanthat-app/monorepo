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sentence: Wanthat turns the product links people already send to friends into cashback — I'll show the product in two minutes, then spend the rest on how it's built.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Word-of-mouth drives 20-50% of purchases and nobody pays for it. We are not building an influencer platform — the persona is a regular person in four family WhatsApp groups.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gates decide Phase 2 (group sharing, two-sided rewards) and a pre-seed raise.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whole loop is two taps for the member; the friend's landing carries the personal review, which is the trust mechanic. Screens are the design-handoff mocks.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Note the "Estimated" chip — cashback is held in the settlement currency and the ILS headline is a display estimate (ADR-0017); conversion happens at withdrawal.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These five drove every decision that follows; when two conflicted, cost and money-safety won.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left to right: (1) no auth service — the browser talks to Cognito directly; OTP rides a custom sender, WhatsApp-default, kill-switched. (2) Member APIs split into non-VPC app-links and in-VPC app-core — only what touches money enters the VPC. (3) The friend's click never leaves DynamoDB. (4) Money enters only through the scheduled pipeline: retailer-proxy fetches, the in-VPC writer appends. Full per-table version in docs/AWS_Architecture.md.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sub is the only join key between the three worlds — that's what makes user deletion clean and keeps the ledger pseudonymous.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Backup slide B1 has the full sequence diagram.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Latency budget is relaxed-but-reachable (ADR-0007); the whole path is DynamoDB reads.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Idempotency: the unique (order_id, kind, status) index makes every poll replayable.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security model leans on the platform: GRANTs and pool separation over custom code.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Registration IS SignUp; OTP and passkey logins; the only Aurora touch is the wallet read.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Cache-first product resolve; on miss the proxy calls AliExpress; both writes are same-table transactions with their counter rows.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Impression, click, purchase, 15-min poll, attribution resolve, append-only ledger + audit chain.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Only what touches Aurora enters the VPC; in-VPC functions cannot call out — the conversion chain is always proxy → writer; a NAT Gateway would be the single biggest fixed cost in the account.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Relationship Id="rId7" Type="http://schemas.openxmlformats.org/officeDocument/2006/relationships/image" Target="../media/image10.png"/><Relationship Id="rId8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image" Target="../media/image12.jpg"/><Relationship Id="rId4" Type="http://schemas.openxmlformats.org/officeDocument/2006/relationships/image" Target="../media/image13.png"/><Relationship Id="rId5" Type="http://schemas.openxmlformats.org/officeDocument/2006/relationships/image" Target="../media/image14.jpg"/><Relationship Id="rId6" Type="http://schemas.openxmlformats.org/officeDocument/2006/relationships/image" Target="../media/image15.jpg"/><Relationship Id="rId7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image" Target="../media/image17.jpg"/><Relationship Id="rId4" Type="http://schemas.openxmlformats.org/officeDocument/2006/relationships/image" Target="../media/image18.jpg"/><Relationship Id="rId5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Relationship Id="rId4" Type="http://schemas.openxmlformats.org/officeDocument/2006/relationships/image" Target="../media/image21.png"/><Relationship Id="rId5" Type="http://schemas.openxmlformats.org/officeDocument/2006/relationships/image" Target="../media/image22.png"/><Relationship Id="rId6" Type="http://schemas.openxmlformats.org/officeDocument/2006/relationships/image" Target="../media/image23.png"/><Relationship Id="rId7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image" Target="../media/image26.png"/><Relationship Id="rId4" Type="http://schemas.openxmlformats.org/officeDocument/2006/relationships/image" Target="../media/image27.png"/><Relationship Id="rId5" Type="http://schemas.openxmlformats.org/officeDocument/2006/relationships/image" Target="../media/image28.png"/><Relationship Id="rId6" Type="http://schemas.openxmlformats.org/officeDocument/2006/relationships/image" Target="../media/image29.png"/><Relationship Id="rId7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image" Target="../media/image31.png"/><Relationship Id="rId4" Type="http://schemas.openxmlformats.org/officeDocument/2006/relationships/image" Target="../media/image32.png"/><Relationship Id="rId5" Type="http://schemas.openxmlformats.org/officeDocument/2006/relationships/image" Target="../media/image33.png"/><Relationship Id="rId6" Type="http://schemas.openxmlformats.org/officeDocument/2006/relationships/image" Target="../media/image34.png"/><Relationship Id="rId7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35.png"/><Relationship Id="rId4" Type="http://schemas.openxmlformats.org/officeDocument/2006/relationships/image" Target="../media/image23.png"/><Relationship Id="rId5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Relationship Id="rId3" Type="http://schemas.openxmlformats.org/officeDocument/2006/relationships/image" Target="../media/image37.png"/><Relationship Id="rId4" Type="http://schemas.openxmlformats.org/officeDocument/2006/relationships/image" Target="../media/image38.png"/><Relationship Id="rId5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image" Target="../media/image33.png"/><Relationship Id="rId4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Relationship Id="rId3" Type="http://schemas.openxmlformats.org/officeDocument/2006/relationships/image" Target="../media/image40.png"/><Relationship Id="rId4" Type="http://schemas.openxmlformats.org/officeDocument/2006/relationships/image" Target="../media/image10.png"/><Relationship Id="rId5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44.png"/><Relationship Id="rId4" Type="http://schemas.openxmlformats.org/officeDocument/2006/relationships/image" Target="../media/image45.png"/><Relationship Id="rId5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36.png"/><Relationship Id="rId4" Type="http://schemas.openxmlformats.org/officeDocument/2006/relationships/image" Target="../media/image38.png"/><Relationship Id="rId5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Relationship Id="rId3" Type="http://schemas.openxmlformats.org/officeDocument/2006/relationships/image" Target="../media/image48.pn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20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7FE0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173736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9DB6AB"/>
                </a:solidFill>
                <a:latin typeface="Space Mono"/>
              </a:rPr>
              <a:t>ISRAEL MVP  ·  AWS SERVERLESS  ·  IL-CENTRAL-1 (TEL AVIV)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148840"/>
            <a:ext cx="107899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200" b="1">
                <a:solidFill>
                  <a:srgbClr val="FFFFFF"/>
                </a:solidFill>
                <a:latin typeface="Space Grotesk"/>
              </a:rPr>
              <a:t>want</a:t>
            </a:r>
            <a:r>
              <a:rPr sz="7200" b="1">
                <a:solidFill>
                  <a:srgbClr val="7FE0B0"/>
                </a:solidFill>
                <a:latin typeface="Space Grotesk"/>
              </a:rPr>
              <a:t>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56616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0">
                <a:solidFill>
                  <a:srgbClr val="BFD3CB"/>
                </a:solidFill>
                <a:latin typeface="Space Grotesk"/>
              </a:rPr>
              <a:t>Earn cashback by sharing what you love.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3434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9DB6AB"/>
                </a:solidFill>
                <a:latin typeface="Hanken Grotesk"/>
              </a:rPr>
              <a:t>Product &amp; architecture overview — 20 minutes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5074920"/>
            <a:ext cx="1536192" cy="384048"/>
          </a:xfrm>
          <a:prstGeom prst="roundRect">
            <a:avLst>
              <a:gd name="adj" fmla="val 50000"/>
            </a:avLst>
          </a:prstGeom>
          <a:solidFill>
            <a:srgbClr val="1B2924"/>
          </a:solidFill>
          <a:ln w="12700">
            <a:solidFill>
              <a:srgbClr val="2E44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  <a:r>
              <a:rPr sz="1050" b="0">
                <a:solidFill>
                  <a:srgbClr val="9DB6AB"/>
                </a:solidFill>
                <a:latin typeface="Space Mono"/>
              </a:rPr>
              <a:t>1 · the business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569464" y="5074920"/>
            <a:ext cx="1458468" cy="384048"/>
          </a:xfrm>
          <a:prstGeom prst="roundRect">
            <a:avLst>
              <a:gd name="adj" fmla="val 50000"/>
            </a:avLst>
          </a:prstGeom>
          <a:solidFill>
            <a:srgbClr val="1B2924"/>
          </a:solidFill>
          <a:ln w="12700">
            <a:solidFill>
              <a:srgbClr val="2E44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  <a:r>
              <a:rPr sz="1050" b="0">
                <a:solidFill>
                  <a:srgbClr val="9DB6AB"/>
                </a:solidFill>
                <a:latin typeface="Space Mono"/>
              </a:rPr>
              <a:t>2 · the product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92524" y="5074920"/>
            <a:ext cx="1847088" cy="384048"/>
          </a:xfrm>
          <a:prstGeom prst="roundRect">
            <a:avLst>
              <a:gd name="adj" fmla="val 50000"/>
            </a:avLst>
          </a:prstGeom>
          <a:solidFill>
            <a:srgbClr val="1B2924"/>
          </a:solidFill>
          <a:ln w="12700">
            <a:solidFill>
              <a:srgbClr val="2E44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  <a:r>
              <a:rPr sz="1050" b="0">
                <a:solidFill>
                  <a:srgbClr val="9DB6AB"/>
                </a:solidFill>
                <a:latin typeface="Space Mono"/>
              </a:rPr>
              <a:t>3 · the architecture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04204" y="5074920"/>
            <a:ext cx="1769364" cy="384048"/>
          </a:xfrm>
          <a:prstGeom prst="roundRect">
            <a:avLst>
              <a:gd name="adj" fmla="val 50000"/>
            </a:avLst>
          </a:prstGeom>
          <a:solidFill>
            <a:srgbClr val="1B2924"/>
          </a:solidFill>
          <a:ln w="12700">
            <a:solidFill>
              <a:srgbClr val="2E44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  <a:r>
              <a:rPr sz="1050" b="0">
                <a:solidFill>
                  <a:srgbClr val="9DB6AB"/>
                </a:solidFill>
                <a:latin typeface="Space Mono"/>
              </a:rPr>
              <a:t>backup · deep dives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BUSINESS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15201C"/>
                </a:solidFill>
                <a:latin typeface="Space Grotesk"/>
              </a:rPr>
              <a:t>Every everyday shopper becomes an affiliate — automatically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459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8A968F"/>
                </a:solidFill>
                <a:latin typeface="Space Mono"/>
              </a:rPr>
              <a:t>THE GAP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956816"/>
            <a:ext cx="5349240" cy="13258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68680" y="2139696"/>
            <a:ext cx="475488" cy="475488"/>
          </a:xfrm>
          <a:prstGeom prst="roundRect">
            <a:avLst>
              <a:gd name="adj" fmla="val 28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8" name="Picture 7" descr="b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5248" y="2206264"/>
            <a:ext cx="342351" cy="34235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472184" y="2176272"/>
            <a:ext cx="4434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5201C"/>
                </a:solidFill>
                <a:latin typeface="Space Grotesk"/>
              </a:rPr>
              <a:t>Shoppers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" y="2761488"/>
            <a:ext cx="4946903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4000"/>
              </a:lnSpc>
            </a:pPr>
            <a:r>
              <a:rPr sz="1150" b="0">
                <a:solidFill>
                  <a:srgbClr val="6B7B73"/>
                </a:solidFill>
                <a:latin typeface="Hanken Grotesk"/>
              </a:rPr>
              <a:t>share product links every day — "where did you get that?" — and earn nothing for the purchases they drive.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3419856"/>
            <a:ext cx="5349240" cy="13258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68680" y="3602736"/>
            <a:ext cx="475488" cy="475488"/>
          </a:xfrm>
          <a:prstGeom prst="roundRect">
            <a:avLst>
              <a:gd name="adj" fmla="val 28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13" name="Picture 12" descr="cardpa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5248" y="3669304"/>
            <a:ext cx="342351" cy="342351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472184" y="3639312"/>
            <a:ext cx="4434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5201C"/>
                </a:solidFill>
                <a:latin typeface="Space Grotesk"/>
              </a:rPr>
              <a:t>Cashback platforms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224528"/>
            <a:ext cx="4946903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4000"/>
              </a:lnSpc>
            </a:pPr>
            <a:r>
              <a:rPr sz="1150" b="0">
                <a:solidFill>
                  <a:srgbClr val="6B7B73"/>
                </a:solidFill>
                <a:latin typeface="Hanken Grotesk"/>
              </a:rPr>
              <a:t>reward passive shopping through their own portal; the social recommendation goes unpaid and unmeasured.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4882896"/>
            <a:ext cx="5349240" cy="13258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68680" y="5065776"/>
            <a:ext cx="475488" cy="475488"/>
          </a:xfrm>
          <a:prstGeom prst="roundRect">
            <a:avLst>
              <a:gd name="adj" fmla="val 28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18" name="Picture 17" descr="broadcas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5248" y="5132344"/>
            <a:ext cx="342351" cy="342351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472184" y="5102352"/>
            <a:ext cx="4434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5201C"/>
                </a:solidFill>
                <a:latin typeface="Space Grotesk"/>
              </a:rPr>
              <a:t>Brands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6968" y="5687568"/>
            <a:ext cx="4946903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4000"/>
              </a:lnSpc>
            </a:pPr>
            <a:r>
              <a:rPr sz="1150" b="0">
                <a:solidFill>
                  <a:srgbClr val="6B7B73"/>
                </a:solidFill>
                <a:latin typeface="Hanken Grotesk"/>
              </a:rPr>
              <a:t>keep growing influencer budgets while organic word-of-mouth — which converts better — stays invisible.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16459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1F7A57"/>
                </a:solidFill>
                <a:latin typeface="Space Mono"/>
              </a:rPr>
              <a:t>THE PRODUCT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46520" y="1956816"/>
            <a:ext cx="5074920" cy="4114800"/>
          </a:xfrm>
          <a:prstGeom prst="roundRect">
            <a:avLst>
              <a:gd name="adj" fmla="val 55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656832" y="2157984"/>
            <a:ext cx="475488" cy="475488"/>
          </a:xfrm>
          <a:prstGeom prst="roundRect">
            <a:avLst>
              <a:gd name="adj" fmla="val 28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24" name="Picture 23" descr="lin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23400" y="2224552"/>
            <a:ext cx="342351" cy="342351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6675120" y="2788920"/>
            <a:ext cx="461772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500" b="1">
                <a:solidFill>
                  <a:srgbClr val="15201C"/>
                </a:solidFill>
                <a:latin typeface="Hanken Grotesk"/>
              </a:rPr>
              <a:t>Wanthat turns the link you already send into a tracked affiliate link. </a:t>
            </a:r>
            <a:r>
              <a:rPr sz="1500" b="0">
                <a:solidFill>
                  <a:srgbClr val="15201C"/>
                </a:solidFill>
                <a:latin typeface="Hanken Grotesk"/>
              </a:rPr>
              <a:t>Wanthat is the single registered affiliate across AliExpress / Awin / eBay — when a friend buys, the commission flows in and the majority is credited back to the recommender as cashback.</a:t>
            </a:r>
          </a:p>
          <a:p>
            <a:pPr>
              <a:spcBef>
                <a:spcPts val="1400"/>
              </a:spcBef>
            </a:pPr>
            <a:r>
              <a:rPr sz="1400" b="1">
                <a:solidFill>
                  <a:srgbClr val="1F7A57"/>
                </a:solidFill>
                <a:latin typeface="Space Grotesk"/>
              </a:rPr>
              <a:t>It monetizes a behavior that already exists — without changing it.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" y="6455664"/>
            <a:ext cx="10908792" cy="10972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BUSINESS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5201C"/>
                </a:solidFill>
                <a:latin typeface="Space Grotesk"/>
              </a:rPr>
              <a:t>Why Israel, why now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828800"/>
            <a:ext cx="3593592" cy="1920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602735" y="2029968"/>
            <a:ext cx="475488" cy="475488"/>
          </a:xfrm>
          <a:prstGeom prst="roundRect">
            <a:avLst>
              <a:gd name="adj" fmla="val 28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7" name="Picture 6" descr="c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9304" y="2096536"/>
            <a:ext cx="342351" cy="34235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86968" y="1975104"/>
            <a:ext cx="267919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F7A57"/>
                </a:solidFill>
                <a:latin typeface="Space Grotesk"/>
              </a:rPr>
              <a:t>66%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697480"/>
            <a:ext cx="3191256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6B7B73"/>
                </a:solidFill>
                <a:latin typeface="Hanken Grotesk"/>
              </a:rPr>
              <a:t>of Israeli online orders are AliExpress — the MVP integration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80560" y="1828800"/>
            <a:ext cx="3593592" cy="1920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397496" y="2029968"/>
            <a:ext cx="475488" cy="475488"/>
          </a:xfrm>
          <a:prstGeom prst="roundRect">
            <a:avLst>
              <a:gd name="adj" fmla="val 28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12" name="Picture 11" descr="cha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64064" y="2096536"/>
            <a:ext cx="342351" cy="342351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681728" y="1975104"/>
            <a:ext cx="267919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F7A57"/>
                </a:solidFill>
                <a:latin typeface="Space Grotesk"/>
              </a:rPr>
              <a:t>#1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81728" y="2697480"/>
            <a:ext cx="3191256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6B7B73"/>
                </a:solidFill>
                <a:latin typeface="Hanken Grotesk"/>
              </a:rPr>
              <a:t>WhatsApp penetration among the highest globally — group sharing is a daily habit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75320" y="1828800"/>
            <a:ext cx="3593592" cy="1920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1192256" y="2029968"/>
            <a:ext cx="475488" cy="475488"/>
          </a:xfrm>
          <a:prstGeom prst="roundRect">
            <a:avLst>
              <a:gd name="adj" fmla="val 28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17" name="Picture 16" descr="tren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58824" y="2096536"/>
            <a:ext cx="342351" cy="342351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476488" y="1975104"/>
            <a:ext cx="267919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F7A57"/>
                </a:solidFill>
                <a:latin typeface="Space Grotesk"/>
              </a:rPr>
              <a:t>$17B+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76488" y="2697480"/>
            <a:ext cx="3191256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6B7B73"/>
                </a:solidFill>
                <a:latin typeface="Hanken Grotesk"/>
              </a:rPr>
              <a:t>global affiliate market — a proven commercial model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5800" y="4005072"/>
            <a:ext cx="3593592" cy="1920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3602735" y="4206240"/>
            <a:ext cx="475488" cy="475488"/>
          </a:xfrm>
          <a:prstGeom prst="roundRect">
            <a:avLst>
              <a:gd name="adj" fmla="val 28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22" name="Picture 21" descr="clo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69304" y="4272808"/>
            <a:ext cx="342351" cy="342351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886968" y="4151376"/>
            <a:ext cx="267919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F7A57"/>
                </a:solidFill>
                <a:latin typeface="Space Grotesk"/>
              </a:rPr>
              <a:t>3 days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86968" y="4873752"/>
            <a:ext cx="3191256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6B7B73"/>
                </a:solidFill>
                <a:latin typeface="Hanken Grotesk"/>
              </a:rPr>
              <a:t>AliExpress attribution window — sharing must be instant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480560" y="4005072"/>
            <a:ext cx="3593592" cy="1920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397496" y="4206240"/>
            <a:ext cx="475488" cy="475488"/>
          </a:xfrm>
          <a:prstGeom prst="roundRect">
            <a:avLst>
              <a:gd name="adj" fmla="val 28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27" name="Picture 26" descr="ban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64064" y="4272808"/>
            <a:ext cx="342351" cy="342351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4681728" y="4151376"/>
            <a:ext cx="267919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F7A57"/>
                </a:solidFill>
                <a:latin typeface="Space Grotesk"/>
              </a:rPr>
              <a:t>₪50+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81728" y="4873752"/>
            <a:ext cx="3191256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6B7B73"/>
                </a:solidFill>
                <a:latin typeface="Hanken Grotesk"/>
              </a:rPr>
              <a:t>payout via bank / card / Bit / PayBox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275320" y="4005072"/>
            <a:ext cx="3593592" cy="1920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11192256" y="4206240"/>
            <a:ext cx="475488" cy="475488"/>
          </a:xfrm>
          <a:prstGeom prst="roundRect">
            <a:avLst>
              <a:gd name="adj" fmla="val 28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32" name="Picture 31" descr="target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258824" y="4272808"/>
            <a:ext cx="342351" cy="342351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8476488" y="4151376"/>
            <a:ext cx="267919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F7A57"/>
                </a:solidFill>
                <a:latin typeface="Space Grotesk"/>
              </a:rPr>
              <a:t>Month 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76488" y="4873752"/>
            <a:ext cx="3191256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6B7B73"/>
                </a:solidFill>
                <a:latin typeface="Hanken Grotesk"/>
              </a:rPr>
              <a:t>gates: 500 active sharers · &gt;20% CTR · &gt;6% conversion · &gt;50% 30-day return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0080" y="6455664"/>
            <a:ext cx="10908792" cy="10972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PRODUCT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5201C"/>
                </a:solidFill>
                <a:latin typeface="Space Grotesk"/>
              </a:rPr>
              <a:t>How it works — share a recommendation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2900" y="1700784"/>
            <a:ext cx="2108805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" bIns="9144"/>
          <a:lstStyle/>
          <a:p>
            <a:pPr algn="ctr"/>
            <a:r>
              <a:rPr sz="950" b="0">
                <a:solidFill>
                  <a:srgbClr val="6B7B73"/>
                </a:solidFill>
                <a:latin typeface="Space Mono"/>
              </a:rPr>
              <a:t>wanthat.app/create</a:t>
            </a:r>
          </a:p>
        </p:txBody>
      </p:sp>
      <p:pic>
        <p:nvPicPr>
          <p:cNvPr id="6" name="Picture 5" descr="flow-1-create-lin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103120"/>
            <a:ext cx="1880205" cy="3246120"/>
          </a:xfrm>
          <a:prstGeom prst="rect">
            <a:avLst/>
          </a:prstGeom>
          <a:ln w="15240">
            <a:solidFill>
              <a:srgbClr val="D2E3D9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274320" y="5440679"/>
            <a:ext cx="224596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1F7A57"/>
                </a:solidFill>
                <a:latin typeface="Space Grotesk"/>
              </a:rPr>
              <a:t>1</a:t>
            </a:r>
            <a:r>
              <a:rPr sz="1100" b="0">
                <a:solidFill>
                  <a:srgbClr val="6B7B73"/>
                </a:solidFill>
                <a:latin typeface="Hanken Grotesk"/>
              </a:rPr>
              <a:t>  Member pastes a product link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82541" y="3497579"/>
            <a:ext cx="59708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1F7A57"/>
                </a:solidFill>
                <a:latin typeface="Hanken Grotesk"/>
              </a:rP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692172" y="1700784"/>
            <a:ext cx="2108805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" bIns="9144"/>
          <a:lstStyle/>
          <a:p>
            <a:pPr algn="ctr"/>
            <a:r>
              <a:rPr sz="950" b="0">
                <a:solidFill>
                  <a:srgbClr val="6B7B73"/>
                </a:solidFill>
                <a:latin typeface="Space Mono"/>
              </a:rPr>
              <a:t>wanthat.app/create</a:t>
            </a:r>
          </a:p>
        </p:txBody>
      </p:sp>
      <p:pic>
        <p:nvPicPr>
          <p:cNvPr id="10" name="Picture 9" descr="flow-2-link-ready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06472" y="2103120"/>
            <a:ext cx="1880205" cy="3246120"/>
          </a:xfrm>
          <a:prstGeom prst="rect">
            <a:avLst/>
          </a:prstGeom>
          <a:ln w="15240">
            <a:solidFill>
              <a:srgbClr val="D2E3D9"/>
            </a:solidFill>
          </a:ln>
        </p:spPr>
      </p:pic>
      <p:sp>
        <p:nvSpPr>
          <p:cNvPr id="11" name="TextBox 10"/>
          <p:cNvSpPr txBox="1"/>
          <p:nvPr/>
        </p:nvSpPr>
        <p:spPr>
          <a:xfrm>
            <a:off x="2623592" y="5440679"/>
            <a:ext cx="224596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1F7A57"/>
                </a:solidFill>
                <a:latin typeface="Space Grotesk"/>
              </a:rPr>
              <a:t>2</a:t>
            </a:r>
            <a:r>
              <a:rPr sz="1100" b="0">
                <a:solidFill>
                  <a:srgbClr val="6B7B73"/>
                </a:solidFill>
                <a:latin typeface="Hanken Grotesk"/>
              </a:rPr>
              <a:t>  Link ready — cashback split shown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31814" y="3497579"/>
            <a:ext cx="59708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1F7A57"/>
                </a:solidFill>
                <a:latin typeface="Hanken Grotesk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41444" y="1700784"/>
            <a:ext cx="2108805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" bIns="9144"/>
          <a:lstStyle/>
          <a:p>
            <a:pPr algn="ctr"/>
            <a:r>
              <a:rPr sz="950" b="0">
                <a:solidFill>
                  <a:srgbClr val="6B7B73"/>
                </a:solidFill>
                <a:latin typeface="Space Mono"/>
              </a:rPr>
              <a:t>WhatsApp — off-platform</a:t>
            </a:r>
          </a:p>
        </p:txBody>
      </p:sp>
      <p:pic>
        <p:nvPicPr>
          <p:cNvPr id="14" name="Picture 13" descr="flow-3-whatsapp-shar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55744" y="2103120"/>
            <a:ext cx="1880205" cy="3246120"/>
          </a:xfrm>
          <a:prstGeom prst="rect">
            <a:avLst/>
          </a:prstGeom>
          <a:ln w="15240">
            <a:solidFill>
              <a:srgbClr val="D2E3D9"/>
            </a:solidFill>
          </a:ln>
        </p:spPr>
      </p:pic>
      <p:sp>
        <p:nvSpPr>
          <p:cNvPr id="15" name="TextBox 14"/>
          <p:cNvSpPr txBox="1"/>
          <p:nvPr/>
        </p:nvSpPr>
        <p:spPr>
          <a:xfrm>
            <a:off x="4972864" y="5440679"/>
            <a:ext cx="224596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1F7A57"/>
                </a:solidFill>
                <a:latin typeface="Space Grotesk"/>
              </a:rPr>
              <a:t>3</a:t>
            </a:r>
            <a:r>
              <a:rPr sz="1100" b="0">
                <a:solidFill>
                  <a:srgbClr val="6B7B73"/>
                </a:solidFill>
                <a:latin typeface="Hanken Grotesk"/>
              </a:rPr>
              <a:t>  Shared — disclosure included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81086" y="3497579"/>
            <a:ext cx="59708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1F7A57"/>
                </a:solidFill>
                <a:latin typeface="Hanken Grotesk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90717" y="1700784"/>
            <a:ext cx="2108805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" bIns="9144"/>
          <a:lstStyle/>
          <a:p>
            <a:pPr algn="ctr"/>
            <a:r>
              <a:rPr sz="950" b="0">
                <a:solidFill>
                  <a:srgbClr val="6B7B73"/>
                </a:solidFill>
                <a:latin typeface="Space Mono"/>
              </a:rPr>
              <a:t>wanthat.app/p/Mx7Qa</a:t>
            </a:r>
          </a:p>
        </p:txBody>
      </p:sp>
      <p:pic>
        <p:nvPicPr>
          <p:cNvPr id="18" name="Picture 17" descr="flow-4-friend-landing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05017" y="2103120"/>
            <a:ext cx="1880205" cy="3246120"/>
          </a:xfrm>
          <a:prstGeom prst="rect">
            <a:avLst/>
          </a:prstGeom>
          <a:ln w="15240">
            <a:solidFill>
              <a:srgbClr val="D2E3D9"/>
            </a:solidFill>
          </a:ln>
        </p:spPr>
      </p:pic>
      <p:sp>
        <p:nvSpPr>
          <p:cNvPr id="19" name="TextBox 18"/>
          <p:cNvSpPr txBox="1"/>
          <p:nvPr/>
        </p:nvSpPr>
        <p:spPr>
          <a:xfrm>
            <a:off x="7322137" y="5440679"/>
            <a:ext cx="224596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1F7A57"/>
                </a:solidFill>
                <a:latin typeface="Space Grotesk"/>
              </a:rPr>
              <a:t>4</a:t>
            </a:r>
            <a:r>
              <a:rPr sz="1100" b="0">
                <a:solidFill>
                  <a:srgbClr val="6B7B73"/>
                </a:solidFill>
                <a:latin typeface="Hanken Grotesk"/>
              </a:rPr>
              <a:t>  Friend opens the branded landing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30358" y="3497579"/>
            <a:ext cx="59708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1F7A57"/>
                </a:solidFill>
                <a:latin typeface="Hanken Grotesk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739989" y="1700784"/>
            <a:ext cx="2108805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" bIns="9144"/>
          <a:lstStyle/>
          <a:p>
            <a:pPr algn="ctr"/>
            <a:r>
              <a:rPr sz="950" b="0">
                <a:solidFill>
                  <a:srgbClr val="6B7B73"/>
                </a:solidFill>
                <a:latin typeface="Space Mono"/>
              </a:rPr>
              <a:t>→ aliexpress.com</a:t>
            </a:r>
          </a:p>
        </p:txBody>
      </p:sp>
      <p:pic>
        <p:nvPicPr>
          <p:cNvPr id="22" name="Picture 21" descr="flow-5-redirect-stor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54289" y="2103120"/>
            <a:ext cx="1880205" cy="3246120"/>
          </a:xfrm>
          <a:prstGeom prst="rect">
            <a:avLst/>
          </a:prstGeom>
          <a:ln w="15240">
            <a:solidFill>
              <a:srgbClr val="D2E3D9"/>
            </a:solidFill>
          </a:ln>
        </p:spPr>
      </p:pic>
      <p:sp>
        <p:nvSpPr>
          <p:cNvPr id="23" name="TextBox 22"/>
          <p:cNvSpPr txBox="1"/>
          <p:nvPr/>
        </p:nvSpPr>
        <p:spPr>
          <a:xfrm>
            <a:off x="9671409" y="5440679"/>
            <a:ext cx="224596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1F7A57"/>
                </a:solidFill>
                <a:latin typeface="Space Grotesk"/>
              </a:rPr>
              <a:t>5</a:t>
            </a:r>
            <a:r>
              <a:rPr sz="1100" b="0">
                <a:solidFill>
                  <a:srgbClr val="6B7B73"/>
                </a:solidFill>
                <a:latin typeface="Hanken Grotesk"/>
              </a:rPr>
              <a:t>  Sent to the store — attributed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" y="6455664"/>
            <a:ext cx="10908792" cy="10972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PRODUCT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5201C"/>
                </a:solidFill>
                <a:latin typeface="Space Grotesk"/>
              </a:rPr>
              <a:t>How it works — the cashback comes back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2900" y="1700784"/>
            <a:ext cx="2320659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" bIns="9144"/>
          <a:lstStyle/>
          <a:p>
            <a:pPr algn="ctr"/>
            <a:r>
              <a:rPr sz="950" b="0">
                <a:solidFill>
                  <a:srgbClr val="6B7B73"/>
                </a:solidFill>
                <a:latin typeface="Space Mono"/>
              </a:rPr>
              <a:t>wanthat.app/activity</a:t>
            </a:r>
          </a:p>
        </p:txBody>
      </p:sp>
      <p:pic>
        <p:nvPicPr>
          <p:cNvPr id="6" name="Picture 5" descr="earn-1-activit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103120"/>
            <a:ext cx="2092059" cy="3611880"/>
          </a:xfrm>
          <a:prstGeom prst="rect">
            <a:avLst/>
          </a:prstGeom>
          <a:ln w="15240">
            <a:solidFill>
              <a:srgbClr val="D2E3D9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274320" y="5806440"/>
            <a:ext cx="2457819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1F7A57"/>
                </a:solidFill>
                <a:latin typeface="Space Grotesk"/>
              </a:rPr>
              <a:t>1</a:t>
            </a:r>
            <a:r>
              <a:rPr sz="1100" b="0">
                <a:solidFill>
                  <a:srgbClr val="6B7B73"/>
                </a:solidFill>
                <a:latin typeface="Hanken Grotesk"/>
              </a:rPr>
              <a:t>  Conversion tracked — pending until the store confirms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94395" y="3680460"/>
            <a:ext cx="262857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1F7A57"/>
                </a:solidFill>
                <a:latin typeface="Hanken Grotesk"/>
              </a:rP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935517" y="1700784"/>
            <a:ext cx="2320659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" bIns="9144"/>
          <a:lstStyle/>
          <a:p>
            <a:pPr algn="ctr"/>
            <a:r>
              <a:rPr sz="950" b="0">
                <a:solidFill>
                  <a:srgbClr val="6B7B73"/>
                </a:solidFill>
                <a:latin typeface="Space Mono"/>
              </a:rPr>
              <a:t>wanthat.app/home</a:t>
            </a:r>
          </a:p>
        </p:txBody>
      </p:sp>
      <p:pic>
        <p:nvPicPr>
          <p:cNvPr id="10" name="Picture 9" descr="earn-2-wallet-hom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49817" y="2103120"/>
            <a:ext cx="2092059" cy="3611880"/>
          </a:xfrm>
          <a:prstGeom prst="rect">
            <a:avLst/>
          </a:prstGeom>
          <a:ln w="15240">
            <a:solidFill>
              <a:srgbClr val="D2E3D9"/>
            </a:solidFill>
          </a:ln>
        </p:spPr>
      </p:pic>
      <p:sp>
        <p:nvSpPr>
          <p:cNvPr id="11" name="TextBox 10"/>
          <p:cNvSpPr txBox="1"/>
          <p:nvPr/>
        </p:nvSpPr>
        <p:spPr>
          <a:xfrm>
            <a:off x="4866937" y="5806440"/>
            <a:ext cx="2457819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1F7A57"/>
                </a:solidFill>
                <a:latin typeface="Space Grotesk"/>
              </a:rPr>
              <a:t>2</a:t>
            </a:r>
            <a:r>
              <a:rPr sz="1100" b="0">
                <a:solidFill>
                  <a:srgbClr val="6B7B73"/>
                </a:solidFill>
                <a:latin typeface="Hanken Grotesk"/>
              </a:rPr>
              <a:t>  Wallet credited — estimated ILS over real currencies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87013" y="3680460"/>
            <a:ext cx="262857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1F7A57"/>
                </a:solidFill>
                <a:latin typeface="Hanken Grotesk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528135" y="1700784"/>
            <a:ext cx="2320659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" bIns="9144"/>
          <a:lstStyle/>
          <a:p>
            <a:pPr algn="ctr"/>
            <a:r>
              <a:rPr sz="950" b="0">
                <a:solidFill>
                  <a:srgbClr val="6B7B73"/>
                </a:solidFill>
                <a:latin typeface="Space Mono"/>
              </a:rPr>
              <a:t>wanthat.app/withdraw</a:t>
            </a:r>
          </a:p>
        </p:txBody>
      </p:sp>
      <p:pic>
        <p:nvPicPr>
          <p:cNvPr id="14" name="Picture 13" descr="earn-3-withdraw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42435" y="2103120"/>
            <a:ext cx="2092059" cy="3611880"/>
          </a:xfrm>
          <a:prstGeom prst="rect">
            <a:avLst/>
          </a:prstGeom>
          <a:ln w="15240">
            <a:solidFill>
              <a:srgbClr val="D2E3D9"/>
            </a:solidFill>
          </a:ln>
        </p:spPr>
      </p:pic>
      <p:sp>
        <p:nvSpPr>
          <p:cNvPr id="15" name="TextBox 14"/>
          <p:cNvSpPr txBox="1"/>
          <p:nvPr/>
        </p:nvSpPr>
        <p:spPr>
          <a:xfrm>
            <a:off x="9459555" y="5806440"/>
            <a:ext cx="2457819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1F7A57"/>
                </a:solidFill>
                <a:latin typeface="Space Grotesk"/>
              </a:rPr>
              <a:t>3</a:t>
            </a:r>
            <a:r>
              <a:rPr sz="1100" b="0">
                <a:solidFill>
                  <a:srgbClr val="6B7B73"/>
                </a:solidFill>
                <a:latin typeface="Hanken Grotesk"/>
              </a:rPr>
              <a:t>  Withdraw from ₪50 — bank, card, Bit or PayBox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6455664"/>
            <a:ext cx="10908792" cy="10972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5201C"/>
                </a:solidFill>
                <a:latin typeface="Space Grotesk"/>
              </a:rPr>
              <a:t>Engineering principles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874519"/>
            <a:ext cx="2157984" cy="37947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41247" y="2075688"/>
            <a:ext cx="475488" cy="475488"/>
          </a:xfrm>
          <a:prstGeom prst="roundRect">
            <a:avLst>
              <a:gd name="adj" fmla="val 28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7" name="Picture 6" descr="b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7816" y="2142256"/>
            <a:ext cx="342351" cy="34235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41247" y="2697480"/>
            <a:ext cx="1792224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</a:pPr>
            <a:r>
              <a:rPr sz="1450" b="1">
                <a:solidFill>
                  <a:srgbClr val="15201C"/>
                </a:solidFill>
                <a:latin typeface="Space Grotesk"/>
              </a:rPr>
              <a:t>Monorepo, schema-first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7" y="3520440"/>
            <a:ext cx="1792224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100" b="0">
                <a:solidFill>
                  <a:srgbClr val="6B7B73"/>
                </a:solidFill>
                <a:latin typeface="Hanken Grotesk"/>
              </a:rPr>
              <a:t>pnpm + Turborepo, TypeScript everywhere (Node 24, arm64). Zod contracts: inferred types + runtime validation at every boundary.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62656" y="1874519"/>
            <a:ext cx="2157984" cy="37947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145536" y="2075688"/>
            <a:ext cx="475488" cy="475488"/>
          </a:xfrm>
          <a:prstGeom prst="roundRect">
            <a:avLst>
              <a:gd name="adj" fmla="val 28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12" name="Picture 11" descr="lay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2104" y="2142256"/>
            <a:ext cx="342351" cy="342351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145536" y="2697480"/>
            <a:ext cx="1792224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</a:pPr>
            <a:r>
              <a:rPr sz="1450" b="1">
                <a:solidFill>
                  <a:srgbClr val="15201C"/>
                </a:solidFill>
                <a:latin typeface="Space Grotesk"/>
              </a:rPr>
              <a:t>Everything as code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45536" y="3520440"/>
            <a:ext cx="1792224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100" b="0">
                <a:solidFill>
                  <a:srgbClr val="6B7B73"/>
                </a:solidFill>
                <a:latin typeface="Hanken Grotesk"/>
              </a:rPr>
              <a:t>AWS CDK v2; per-env stacks; zero console changes. PRs run CI + cdk diff; merge deploys dev; SQL migrations run in-deploy.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66944" y="1874519"/>
            <a:ext cx="2157984" cy="37947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449824" y="2075688"/>
            <a:ext cx="475488" cy="475488"/>
          </a:xfrm>
          <a:prstGeom prst="roundRect">
            <a:avLst>
              <a:gd name="adj" fmla="val 28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17" name="Picture 16" descr="do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16392" y="2142256"/>
            <a:ext cx="342351" cy="342351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449824" y="2697480"/>
            <a:ext cx="1792224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</a:pPr>
            <a:r>
              <a:rPr sz="1450" b="1">
                <a:solidFill>
                  <a:srgbClr val="15201C"/>
                </a:solidFill>
                <a:latin typeface="Space Grotesk"/>
              </a:rPr>
              <a:t>Decisions on record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49824" y="3520440"/>
            <a:ext cx="1792224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100" b="0">
                <a:solidFill>
                  <a:srgbClr val="6B7B73"/>
                </a:solidFill>
                <a:latin typeface="Hanken Grotesk"/>
              </a:rPr>
              <a:t>21 ADRs beside the code. Locked: change = a new superseding ADR, never an edit.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571232" y="1874519"/>
            <a:ext cx="2157984" cy="37947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754112" y="2075688"/>
            <a:ext cx="475488" cy="475488"/>
          </a:xfrm>
          <a:prstGeom prst="roundRect">
            <a:avLst>
              <a:gd name="adj" fmla="val 28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22" name="Picture 21" descr="dbcoi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20680" y="2142256"/>
            <a:ext cx="342351" cy="342351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7754112" y="2697480"/>
            <a:ext cx="1792224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</a:pPr>
            <a:r>
              <a:rPr sz="1450" b="1">
                <a:solidFill>
                  <a:srgbClr val="15201C"/>
                </a:solidFill>
                <a:latin typeface="Space Grotesk"/>
              </a:rPr>
              <a:t>Optimize for cost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54112" y="3520440"/>
            <a:ext cx="1792224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100" b="0">
                <a:solidFill>
                  <a:srgbClr val="6B7B73"/>
                </a:solidFill>
                <a:latin typeface="Hanken Grotesk"/>
              </a:rPr>
              <a:t>No NAT, no RDS Proxy, zero interface endpoints, scale-to-zero Aurora, on-demand DynamoDB. The dominant cost is OTP delivery.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875520" y="1874519"/>
            <a:ext cx="2157984" cy="37947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10058400" y="2075688"/>
            <a:ext cx="475488" cy="475488"/>
          </a:xfrm>
          <a:prstGeom prst="roundRect">
            <a:avLst>
              <a:gd name="adj" fmla="val 28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27" name="Picture 26" descr="bol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24968" y="2142256"/>
            <a:ext cx="342351" cy="342351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10058400" y="2697480"/>
            <a:ext cx="1792224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</a:pPr>
            <a:r>
              <a:rPr sz="1450" b="1">
                <a:solidFill>
                  <a:srgbClr val="15201C"/>
                </a:solidFill>
                <a:latin typeface="Space Grotesk"/>
              </a:rPr>
              <a:t>Zero to scale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058400" y="3520440"/>
            <a:ext cx="1792224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100" b="0">
                <a:solidFill>
                  <a:srgbClr val="6B7B73"/>
                </a:solidFill>
                <a:latin typeface="Hanken Grotesk"/>
              </a:rPr>
              <a:t>A link going viral in a WhatsApp group is the design load: the hot path is non-VPC Lambda + DynamoDB — never SQL.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" y="6455664"/>
            <a:ext cx="10908792" cy="10972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5201C"/>
                </a:solidFill>
                <a:latin typeface="Space Grotesk"/>
              </a:rPr>
              <a:t>Architecture — the whole system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07695" y="1709928"/>
            <a:ext cx="11576304" cy="3938849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6" name="Picture 5" descr="diagram-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287" y="1874519"/>
            <a:ext cx="11247120" cy="3609665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40080" y="6455664"/>
            <a:ext cx="10908792" cy="10972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08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5201C"/>
                </a:solidFill>
                <a:latin typeface="Space Grotesk"/>
              </a:rPr>
              <a:t>Data — three homes, one rule each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575695" y="1618488"/>
            <a:ext cx="7040304" cy="2569464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6" name="Picture 5" descr="diagram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0287" y="1783080"/>
            <a:ext cx="6711120" cy="224028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58368" y="4224528"/>
            <a:ext cx="2706624" cy="20116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22959" y="4370832"/>
            <a:ext cx="402336" cy="402336"/>
          </a:xfrm>
          <a:prstGeom prst="roundRect">
            <a:avLst>
              <a:gd name="adj" fmla="val 28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9" name="Picture 8" descr="idc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9287" y="4427159"/>
            <a:ext cx="289681" cy="28968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316736" y="4389120"/>
            <a:ext cx="188366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15201C"/>
                </a:solidFill>
                <a:latin typeface="Space Grotesk"/>
              </a:rPr>
              <a:t>PII in Cognito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7" y="4892040"/>
            <a:ext cx="2340864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050" b="0">
                <a:solidFill>
                  <a:srgbClr val="6B7B73"/>
                </a:solidFill>
                <a:latin typeface="Hanken Grotesk"/>
              </a:rPr>
              <a:t>Profile = ID-token claims; GDPR delete = one API call; the auth path never touches a database.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11296" y="4224528"/>
            <a:ext cx="2706624" cy="20116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675887" y="4370832"/>
            <a:ext cx="402336" cy="402336"/>
          </a:xfrm>
          <a:prstGeom prst="roundRect">
            <a:avLst>
              <a:gd name="adj" fmla="val 28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14" name="Picture 13" descr="receip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32215" y="4427159"/>
            <a:ext cx="289681" cy="2896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169663" y="4389120"/>
            <a:ext cx="188366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15201C"/>
                </a:solidFill>
                <a:latin typeface="Space Grotesk"/>
              </a:rPr>
              <a:t>Aurora = money only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94176" y="4892040"/>
            <a:ext cx="2340864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050" b="0">
                <a:solidFill>
                  <a:srgbClr val="6B7B73"/>
                </a:solidFill>
                <a:latin typeface="Hanken Grotesk"/>
              </a:rPr>
              <a:t>Append-only ledger + hash-chained audit; balances derived. GRANTs enforce: app_rw SELECTs, poller_writer INSERTs.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64224" y="4224528"/>
            <a:ext cx="2706624" cy="20116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528816" y="4370832"/>
            <a:ext cx="402336" cy="402336"/>
          </a:xfrm>
          <a:prstGeom prst="roundRect">
            <a:avLst>
              <a:gd name="adj" fmla="val 28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19" name="Picture 18" descr="gri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85143" y="4427159"/>
            <a:ext cx="289681" cy="289681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022592" y="4389120"/>
            <a:ext cx="188366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15201C"/>
                </a:solidFill>
                <a:latin typeface="Space Grotesk"/>
              </a:rPr>
              <a:t>DynamoDB = the rest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4892040"/>
            <a:ext cx="2340864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050" b="0">
                <a:solidFill>
                  <a:srgbClr val="6B7B73"/>
                </a:solidFill>
                <a:latin typeface="Hanken Grotesk"/>
              </a:rPr>
              <a:t>10 on-demand tables; $0 idle, unlimited burst.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217152" y="4224528"/>
            <a:ext cx="2706624" cy="20116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381744" y="4370832"/>
            <a:ext cx="402336" cy="402336"/>
          </a:xfrm>
          <a:prstGeom prst="roundRect">
            <a:avLst>
              <a:gd name="adj" fmla="val 28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24" name="Picture 23" descr="loc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38071" y="4427159"/>
            <a:ext cx="289681" cy="289681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9875520" y="4389120"/>
            <a:ext cx="188366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15201C"/>
                </a:solidFill>
                <a:latin typeface="Space Grotesk"/>
              </a:rPr>
              <a:t>No cross-table 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00032" y="4892040"/>
            <a:ext cx="2340864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050" b="0">
                <a:solidFill>
                  <a:srgbClr val="6B7B73"/>
                </a:solidFill>
                <a:latin typeface="Hanken Grotesk"/>
              </a:rPr>
              <a:t>Counters live inside the counted table; ledger + audit are sequential idempotent appends.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" y="6455664"/>
            <a:ext cx="10908792" cy="10972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09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5201C"/>
                </a:solidFill>
                <a:latin typeface="Space Grotesk"/>
              </a:rPr>
              <a:t>Auth without an auth service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828800"/>
            <a:ext cx="3593592" cy="2084831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68680" y="2011680"/>
            <a:ext cx="475488" cy="475488"/>
          </a:xfrm>
          <a:prstGeom prst="roundRect">
            <a:avLst>
              <a:gd name="adj" fmla="val 28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7" name="Picture 6" descr="ke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5248" y="2078248"/>
            <a:ext cx="342351" cy="34235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472184" y="2048256"/>
            <a:ext cx="26791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1">
                <a:solidFill>
                  <a:srgbClr val="15201C"/>
                </a:solidFill>
                <a:latin typeface="Space Grotesk"/>
              </a:rPr>
              <a:t>Browser-direct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633472"/>
            <a:ext cx="3191256" cy="11247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4000"/>
              </a:lnSpc>
            </a:pPr>
            <a:r>
              <a:rPr sz="1100" b="0">
                <a:solidFill>
                  <a:srgbClr val="6B7B73"/>
                </a:solidFill>
                <a:latin typeface="Hanken Grotesk"/>
              </a:rPr>
              <a:t>The SPA calls the public Cognito API — SignUp, InitiateAuth, native WEB_AUTHN. Zero backend calls to log in; the first backend touch is GET /wallet.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80560" y="1828800"/>
            <a:ext cx="3593592" cy="2084831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663440" y="2011680"/>
            <a:ext cx="475488" cy="475488"/>
          </a:xfrm>
          <a:prstGeom prst="roundRect">
            <a:avLst>
              <a:gd name="adj" fmla="val 28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12" name="Picture 11" descr="pho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30008" y="2078248"/>
            <a:ext cx="342351" cy="342351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266944" y="2048256"/>
            <a:ext cx="26791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1">
                <a:solidFill>
                  <a:srgbClr val="15201C"/>
                </a:solidFill>
                <a:latin typeface="Space Grotesk"/>
              </a:rPr>
              <a:t>OTP, kill-switched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81728" y="2633472"/>
            <a:ext cx="3191256" cy="11247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4000"/>
              </a:lnSpc>
            </a:pPr>
            <a:r>
              <a:rPr sz="1100" b="0">
                <a:solidFill>
                  <a:srgbClr val="6B7B73"/>
                </a:solidFill>
                <a:latin typeface="Hanken Grotesk"/>
              </a:rPr>
              <a:t>WhatsApp-default / SMS-fallback via the custom-sender Lambda — sticky preference, runtime-config kill switches, hard SMS spend cap.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75320" y="1828800"/>
            <a:ext cx="3593592" cy="2084831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458200" y="2011680"/>
            <a:ext cx="475488" cy="475488"/>
          </a:xfrm>
          <a:prstGeom prst="roundRect">
            <a:avLst>
              <a:gd name="adj" fmla="val 28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17" name="Picture 16" descr="facesca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24768" y="2078248"/>
            <a:ext cx="342351" cy="342351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9061704" y="2048256"/>
            <a:ext cx="26791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1">
                <a:solidFill>
                  <a:srgbClr val="15201C"/>
                </a:solidFill>
                <a:latin typeface="Space Grotesk"/>
              </a:rPr>
              <a:t>Face ID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76488" y="2633472"/>
            <a:ext cx="3191256" cy="11247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4000"/>
              </a:lnSpc>
            </a:pPr>
            <a:r>
              <a:rPr sz="1100" b="0">
                <a:solidFill>
                  <a:srgbClr val="6B7B73"/>
                </a:solidFill>
                <a:latin typeface="Hanken Grotesk"/>
              </a:rPr>
              <a:t>One-prompt Cognito-native passkey on returning devices (remembered phone).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5800" y="4041648"/>
            <a:ext cx="3593592" cy="2084831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68680" y="4224528"/>
            <a:ext cx="475488" cy="475488"/>
          </a:xfrm>
          <a:prstGeom prst="roundRect">
            <a:avLst>
              <a:gd name="adj" fmla="val 28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22" name="Picture 21" descr="shiel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5248" y="4291096"/>
            <a:ext cx="342351" cy="342351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1472184" y="4261104"/>
            <a:ext cx="26791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1">
                <a:solidFill>
                  <a:srgbClr val="15201C"/>
                </a:solidFill>
                <a:latin typeface="Space Grotesk"/>
              </a:rPr>
              <a:t>Pool-boundary abuse control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86968" y="4846320"/>
            <a:ext cx="3191256" cy="11247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4000"/>
              </a:lnSpc>
            </a:pPr>
            <a:r>
              <a:rPr sz="1100" b="0">
                <a:solidFill>
                  <a:srgbClr val="6B7B73"/>
                </a:solidFill>
                <a:latin typeface="Hanken Grotesk"/>
              </a:rPr>
              <a:t>WAF rate rules on the unauthenticated Cognito operations + quotas — no app-side velocity tables.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480560" y="4041648"/>
            <a:ext cx="3593592" cy="2084831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4663440" y="4224528"/>
            <a:ext cx="475488" cy="475488"/>
          </a:xfrm>
          <a:prstGeom prst="roundRect">
            <a:avLst>
              <a:gd name="adj" fmla="val 28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27" name="Picture 26" descr="briefcas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30008" y="4291096"/>
            <a:ext cx="342351" cy="342351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5266944" y="4261104"/>
            <a:ext cx="26791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1">
                <a:solidFill>
                  <a:srgbClr val="15201C"/>
                </a:solidFill>
                <a:latin typeface="Space Grotesk"/>
              </a:rPr>
              <a:t>Separate admin pool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81728" y="4846320"/>
            <a:ext cx="3191256" cy="11247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4000"/>
              </a:lnSpc>
            </a:pPr>
            <a:r>
              <a:rPr sz="1100" b="0">
                <a:solidFill>
                  <a:srgbClr val="6B7B73"/>
                </a:solidFill>
                <a:latin typeface="Hanken Grotesk"/>
              </a:rPr>
              <a:t>Employees, mandatory TOTP, Managed Login + PKCE — a customer token structurally cannot reach /admin.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58200" y="4206240"/>
            <a:ext cx="3200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150" b="0">
                <a:solidFill>
                  <a:srgbClr val="6B7B73"/>
                </a:solidFill>
                <a:latin typeface="Hanken Grotesk"/>
              </a:rPr>
              <a:t>The old design bought one feature (userless Face ID) with two Lambdas, three tables and a crypto path.
</a:t>
            </a:r>
            <a:r>
              <a:rPr sz="1250" b="1">
                <a:solidFill>
                  <a:srgbClr val="1F7A57"/>
                </a:solidFill>
                <a:latin typeface="Space Grotesk"/>
              </a:rPr>
              <a:t>Waived → deleted.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" y="6455664"/>
            <a:ext cx="10908792" cy="10972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5201C"/>
                </a:solidFill>
                <a:latin typeface="Space Grotesk"/>
              </a:rPr>
              <a:t>The viral hot path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828800"/>
            <a:ext cx="10881360" cy="868680"/>
          </a:xfrm>
          <a:prstGeom prst="roundRect">
            <a:avLst>
              <a:gd name="adj" fmla="val 5500"/>
            </a:avLst>
          </a:prstGeom>
          <a:solidFill>
            <a:srgbClr val="1B2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FFFFFF"/>
                </a:solidFill>
                <a:latin typeface="Space Mono"/>
              </a:rPr>
              <a:t>friend taps /p/{id}</a:t>
            </a:r>
            <a:r>
              <a:rPr sz="1300" b="1">
                <a:solidFill>
                  <a:srgbClr val="7FE0B0"/>
                </a:solidFill>
                <a:latin typeface="Space Mono"/>
              </a:rPr>
              <a:t> → </a:t>
            </a:r>
            <a:r>
              <a:rPr sz="1300" b="0">
                <a:solidFill>
                  <a:srgbClr val="FFFFFF"/>
                </a:solidFill>
                <a:latin typeface="Space Mono"/>
              </a:rPr>
              <a:t>CloudFront</a:t>
            </a:r>
            <a:r>
              <a:rPr sz="1300" b="1">
                <a:solidFill>
                  <a:srgbClr val="7FE0B0"/>
                </a:solidFill>
                <a:latin typeface="Space Mono"/>
              </a:rPr>
              <a:t> → </a:t>
            </a:r>
            <a:r>
              <a:rPr sz="1300" b="0">
                <a:solidFill>
                  <a:srgbClr val="FFFFFF"/>
                </a:solidFill>
                <a:latin typeface="Space Mono"/>
              </a:rPr>
              <a:t>landing (non-VPC)</a:t>
            </a:r>
            <a:r>
              <a:rPr sz="1300" b="1">
                <a:solidFill>
                  <a:srgbClr val="7FE0B0"/>
                </a:solidFill>
                <a:latin typeface="Space Mono"/>
              </a:rPr>
              <a:t> → </a:t>
            </a:r>
            <a:r>
              <a:rPr sz="1300" b="0">
                <a:solidFill>
                  <a:srgbClr val="FFFFFF"/>
                </a:solidFill>
                <a:latin typeface="Space Mono"/>
              </a:rPr>
              <a:t>DynamoDB: short id</a:t>
            </a:r>
            <a:r>
              <a:rPr sz="1300" b="1">
                <a:solidFill>
                  <a:srgbClr val="7FE0B0"/>
                </a:solidFill>
                <a:latin typeface="Space Mono"/>
              </a:rPr>
              <a:t> → </a:t>
            </a:r>
            <a:r>
              <a:rPr sz="1300" b="0">
                <a:solidFill>
                  <a:srgbClr val="FFFFFF"/>
                </a:solidFill>
                <a:latin typeface="Space Mono"/>
              </a:rPr>
              <a:t>OG landing + review</a:t>
            </a:r>
            <a:r>
              <a:rPr sz="1300" b="1">
                <a:solidFill>
                  <a:srgbClr val="7FE0B0"/>
                </a:solidFill>
                <a:latin typeface="Space Mono"/>
              </a:rPr>
              <a:t> → </a:t>
            </a:r>
            <a:r>
              <a:rPr sz="1300" b="0">
                <a:solidFill>
                  <a:srgbClr val="FFFFFF"/>
                </a:solidFill>
                <a:latin typeface="Space Mono"/>
              </a:rPr>
              <a:t>302 to store, custom_parameters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3154680"/>
            <a:ext cx="3593592" cy="22860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68680" y="3337560"/>
            <a:ext cx="475488" cy="475488"/>
          </a:xfrm>
          <a:prstGeom prst="roundRect">
            <a:avLst>
              <a:gd name="adj" fmla="val 28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8" name="Picture 7" descr="cha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5248" y="3404128"/>
            <a:ext cx="342351" cy="34235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472184" y="3374136"/>
            <a:ext cx="26791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5201C"/>
                </a:solidFill>
                <a:latin typeface="Space Grotesk"/>
              </a:rPr>
              <a:t>Rich in WhatsApp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" y="3959352"/>
            <a:ext cx="3191256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4000"/>
              </a:lnSpc>
            </a:pPr>
            <a:r>
              <a:rPr sz="1200" b="0">
                <a:solidFill>
                  <a:srgbClr val="6B7B73"/>
                </a:solidFill>
                <a:latin typeface="Hanken Grotesk"/>
              </a:rPr>
              <a:t>Crawlers get server-injected OG tags — every shared link renders as a product card.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80560" y="3154680"/>
            <a:ext cx="3593592" cy="22860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663440" y="3337560"/>
            <a:ext cx="475488" cy="475488"/>
          </a:xfrm>
          <a:prstGeom prst="roundRect">
            <a:avLst>
              <a:gd name="adj" fmla="val 28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13" name="Picture 12" descr="cooki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30008" y="3404128"/>
            <a:ext cx="342351" cy="342351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266944" y="3374136"/>
            <a:ext cx="26791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5201C"/>
                </a:solidFill>
                <a:latin typeface="Space Grotesk"/>
              </a:rPr>
              <a:t>Cookieless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81728" y="3959352"/>
            <a:ext cx="3191256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4000"/>
              </a:lnSpc>
            </a:pPr>
            <a:r>
              <a:rPr sz="1200" b="0">
                <a:solidFill>
                  <a:srgbClr val="6B7B73"/>
                </a:solidFill>
                <a:latin typeface="Hanken Grotesk"/>
              </a:rPr>
              <a:t>Attribution rides the URL (custom_parameters), not a cookie — no consent-banner dependency (ADR-0008).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75320" y="3154680"/>
            <a:ext cx="3593592" cy="22860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458200" y="3337560"/>
            <a:ext cx="475488" cy="475488"/>
          </a:xfrm>
          <a:prstGeom prst="roundRect">
            <a:avLst>
              <a:gd name="adj" fmla="val 28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18" name="Picture 17" descr="bol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24768" y="3404128"/>
            <a:ext cx="342351" cy="342351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9061704" y="3374136"/>
            <a:ext cx="26791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5201C"/>
                </a:solidFill>
                <a:latin typeface="Space Grotesk"/>
              </a:rPr>
              <a:t>Burst-proof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76488" y="3959352"/>
            <a:ext cx="3191256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4000"/>
              </a:lnSpc>
            </a:pPr>
            <a:r>
              <a:rPr sz="1200" b="0">
                <a:solidFill>
                  <a:srgbClr val="6B7B73"/>
                </a:solidFill>
                <a:latin typeface="Hanken Grotesk"/>
              </a:rPr>
              <a:t>Aurora is never on this path — a viral spike cannot touch the money database.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6455664"/>
            <a:ext cx="10908792" cy="10972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5201C"/>
                </a:solidFill>
                <a:latin typeface="Space Grotesk"/>
              </a:rPr>
              <a:t>Following the money — poll, don't listen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828800"/>
            <a:ext cx="10881360" cy="868680"/>
          </a:xfrm>
          <a:prstGeom prst="roundRect">
            <a:avLst>
              <a:gd name="adj" fmla="val 5500"/>
            </a:avLst>
          </a:prstGeom>
          <a:solidFill>
            <a:srgbClr val="1B2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FFFFFF"/>
                </a:solidFill>
                <a:latin typeface="Space Mono"/>
              </a:rPr>
              <a:t>heartbeat 15 min</a:t>
            </a:r>
            <a:r>
              <a:rPr sz="1300" b="1">
                <a:solidFill>
                  <a:srgbClr val="7FE0B0"/>
                </a:solidFill>
                <a:latin typeface="Space Mono"/>
              </a:rPr>
              <a:t> → </a:t>
            </a:r>
            <a:r>
              <a:rPr sz="1300" b="0">
                <a:solidFill>
                  <a:srgbClr val="FFFFFF"/>
                </a:solidFill>
                <a:latin typeface="Space Mono"/>
              </a:rPr>
              <a:t>retailer-proxy: listOrdersByIndex</a:t>
            </a:r>
            <a:r>
              <a:rPr sz="1300" b="1">
                <a:solidFill>
                  <a:srgbClr val="7FE0B0"/>
                </a:solidFill>
                <a:latin typeface="Space Mono"/>
              </a:rPr>
              <a:t> → </a:t>
            </a:r>
            <a:r>
              <a:rPr sz="1300" b="0">
                <a:solidFill>
                  <a:srgbClr val="FFFFFF"/>
                </a:solidFill>
                <a:latin typeface="Space Mono"/>
              </a:rPr>
              <a:t>attribution resolve</a:t>
            </a:r>
            <a:r>
              <a:rPr sz="1300" b="1">
                <a:solidFill>
                  <a:srgbClr val="7FE0B0"/>
                </a:solidFill>
                <a:latin typeface="Space Mono"/>
              </a:rPr>
              <a:t> → </a:t>
            </a:r>
            <a:r>
              <a:rPr sz="1300" b="0">
                <a:solidFill>
                  <a:srgbClr val="FFFFFF"/>
                </a:solidFill>
                <a:latin typeface="Space Mono"/>
              </a:rPr>
              <a:t>invoke in-VPC writer</a:t>
            </a:r>
            <a:r>
              <a:rPr sz="1300" b="1">
                <a:solidFill>
                  <a:srgbClr val="7FE0B0"/>
                </a:solidFill>
                <a:latin typeface="Space Mono"/>
              </a:rPr>
              <a:t> → </a:t>
            </a:r>
            <a:r>
              <a:rPr sz="1300" b="0">
                <a:solidFill>
                  <a:srgbClr val="FFFFFF"/>
                </a:solidFill>
                <a:latin typeface="Space Mono"/>
              </a:rPr>
              <a:t>append ledger + audit chain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3154680"/>
            <a:ext cx="3593592" cy="22860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68680" y="3337560"/>
            <a:ext cx="475488" cy="475488"/>
          </a:xfrm>
          <a:prstGeom prst="roundRect">
            <a:avLst>
              <a:gd name="adj" fmla="val 28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8" name="Picture 7" descr="refres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5248" y="3404128"/>
            <a:ext cx="342351" cy="34235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472184" y="3374136"/>
            <a:ext cx="26791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5201C"/>
                </a:solidFill>
                <a:latin typeface="Space Grotesk"/>
              </a:rPr>
              <a:t>Poll, don't listen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" y="3959352"/>
            <a:ext cx="3191256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4000"/>
              </a:lnSpc>
            </a:pPr>
            <a:r>
              <a:rPr sz="1200" b="0">
                <a:solidFill>
                  <a:srgbClr val="6B7B73"/>
                </a:solidFill>
                <a:latin typeface="Hanken Grotesk"/>
              </a:rPr>
              <a:t>A scheduled reconciliation poll is auditable and replayable; no inbound webhook to spoof (ADR-0009).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80560" y="3154680"/>
            <a:ext cx="3593592" cy="22860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663440" y="3337560"/>
            <a:ext cx="475488" cy="475488"/>
          </a:xfrm>
          <a:prstGeom prst="roundRect">
            <a:avLst>
              <a:gd name="adj" fmla="val 28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13" name="Picture 12" descr="p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30008" y="3404128"/>
            <a:ext cx="342351" cy="342351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266944" y="3374136"/>
            <a:ext cx="26791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5201C"/>
                </a:solidFill>
                <a:latin typeface="Space Grotesk"/>
              </a:rPr>
              <a:t>One writer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81728" y="3959352"/>
            <a:ext cx="3191256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4000"/>
              </a:lnSpc>
            </a:pPr>
            <a:r>
              <a:rPr sz="1200" b="0">
                <a:solidFill>
                  <a:srgbClr val="6B7B73"/>
                </a:solidFill>
                <a:latin typeface="Hanken Grotesk"/>
              </a:rPr>
              <a:t>Only poller_writer can INSERT into the ledger; every row is audit-chained.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75320" y="3154680"/>
            <a:ext cx="3593592" cy="22860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458200" y="3337560"/>
            <a:ext cx="475488" cy="475488"/>
          </a:xfrm>
          <a:prstGeom prst="roundRect">
            <a:avLst>
              <a:gd name="adj" fmla="val 28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18" name="Picture 17" descr="inbo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24768" y="3404128"/>
            <a:ext cx="342351" cy="342351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9061704" y="3374136"/>
            <a:ext cx="26791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5201C"/>
                </a:solidFill>
                <a:latin typeface="Space Grotesk"/>
              </a:rPr>
              <a:t>Claim queue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76488" y="3959352"/>
            <a:ext cx="3191256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4000"/>
              </a:lnSpc>
            </a:pPr>
            <a:r>
              <a:rPr sz="1200" b="0">
                <a:solidFill>
                  <a:srgbClr val="6B7B73"/>
                </a:solidFill>
                <a:latin typeface="Hanken Grotesk"/>
              </a:rPr>
              <a:t>Unmatched orders park in DynamoDB; admin claims settle on the next beat.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6455664"/>
            <a:ext cx="10908792" cy="10972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5201C"/>
                </a:solidFill>
                <a:latin typeface="Space Grotesk"/>
              </a:rPr>
              <a:t>Cost and security posture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828800"/>
            <a:ext cx="5257800" cy="40233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86968" y="2029968"/>
            <a:ext cx="475488" cy="475488"/>
          </a:xfrm>
          <a:prstGeom prst="roundRect">
            <a:avLst>
              <a:gd name="adj" fmla="val 28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7" name="Picture 6" descr="dbco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3536" y="2096536"/>
            <a:ext cx="342351" cy="34235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508760" y="2084831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>
                <a:solidFill>
                  <a:srgbClr val="15201C"/>
                </a:solidFill>
                <a:latin typeface="Space Grotesk"/>
              </a:rPr>
              <a:t>Cost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05256" y="2743200"/>
            <a:ext cx="48463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300" b="1">
                <a:solidFill>
                  <a:srgbClr val="1F7A57"/>
                </a:solidFill>
                <a:latin typeface="Hanken Grotesk"/>
              </a:rPr>
              <a:t>—  </a:t>
            </a:r>
            <a:r>
              <a:rPr sz="1300" b="0">
                <a:solidFill>
                  <a:srgbClr val="15201C"/>
                </a:solidFill>
                <a:latin typeface="Hanken Grotesk"/>
              </a:rPr>
              <a:t>Aurora paused = storage only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300" b="1">
                <a:solidFill>
                  <a:srgbClr val="1F7A57"/>
                </a:solidFill>
                <a:latin typeface="Hanken Grotesk"/>
              </a:rPr>
              <a:t>—  </a:t>
            </a:r>
            <a:r>
              <a:rPr sz="1300" b="0">
                <a:solidFill>
                  <a:srgbClr val="15201C"/>
                </a:solidFill>
                <a:latin typeface="Hanken Grotesk"/>
              </a:rPr>
              <a:t>DynamoDB $0 idle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300" b="1">
                <a:solidFill>
                  <a:srgbClr val="1F7A57"/>
                </a:solidFill>
                <a:latin typeface="Hanken Grotesk"/>
              </a:rPr>
              <a:t>—  </a:t>
            </a:r>
            <a:r>
              <a:rPr sz="1300" b="0">
                <a:solidFill>
                  <a:srgbClr val="15201C"/>
                </a:solidFill>
                <a:latin typeface="Hanken Grotesk"/>
              </a:rPr>
              <a:t>No NAT · no RDS Proxy · zero interface endpoints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300" b="1">
                <a:solidFill>
                  <a:srgbClr val="1F7A57"/>
                </a:solidFill>
                <a:latin typeface="Hanken Grotesk"/>
              </a:rPr>
              <a:t>—  </a:t>
            </a:r>
            <a:r>
              <a:rPr sz="1300" b="0">
                <a:solidFill>
                  <a:srgbClr val="15201C"/>
                </a:solidFill>
                <a:latin typeface="Hanken Grotesk"/>
              </a:rPr>
              <a:t>OTP delivery is the dominant line item — and it is hard-capped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828800"/>
            <a:ext cx="5257800" cy="40233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464807" y="2029968"/>
            <a:ext cx="475488" cy="475488"/>
          </a:xfrm>
          <a:prstGeom prst="roundRect">
            <a:avLst>
              <a:gd name="adj" fmla="val 28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12" name="Picture 11" descr="shiel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1376" y="2096536"/>
            <a:ext cx="342351" cy="342351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086600" y="2084831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>
                <a:solidFill>
                  <a:srgbClr val="15201C"/>
                </a:solidFill>
                <a:latin typeface="Space Grotesk"/>
              </a:rPr>
              <a:t>Security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83096" y="2743200"/>
            <a:ext cx="48463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300" b="1">
                <a:solidFill>
                  <a:srgbClr val="1F7A57"/>
                </a:solidFill>
                <a:latin typeface="Hanken Grotesk"/>
              </a:rPr>
              <a:t>—  </a:t>
            </a:r>
            <a:r>
              <a:rPr sz="1300" b="0">
                <a:solidFill>
                  <a:srgbClr val="15201C"/>
                </a:solidFill>
                <a:latin typeface="Hanken Grotesk"/>
              </a:rPr>
              <a:t>Two WAF layers: CloudFront + the Cognito pool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300" b="1">
                <a:solidFill>
                  <a:srgbClr val="1F7A57"/>
                </a:solidFill>
                <a:latin typeface="Hanken Grotesk"/>
              </a:rPr>
              <a:t>—  </a:t>
            </a:r>
            <a:r>
              <a:rPr sz="1300" b="0">
                <a:solidFill>
                  <a:srgbClr val="15201C"/>
                </a:solidFill>
                <a:latin typeface="Hanken Grotesk"/>
              </a:rPr>
              <a:t>Per-function IAM; money invariants in Postgres GRANTs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300" b="1">
                <a:solidFill>
                  <a:srgbClr val="1F7A57"/>
                </a:solidFill>
                <a:latin typeface="Hanken Grotesk"/>
              </a:rPr>
              <a:t>—  </a:t>
            </a:r>
            <a:r>
              <a:rPr sz="1300" b="0">
                <a:solidFill>
                  <a:srgbClr val="15201C"/>
                </a:solidFill>
                <a:latin typeface="Hanken Grotesk"/>
              </a:rPr>
              <a:t>Retailer credential readable by exactly one function — admin can rotate, never read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300" b="1">
                <a:solidFill>
                  <a:srgbClr val="1F7A57"/>
                </a:solidFill>
                <a:latin typeface="Hanken Grotesk"/>
              </a:rPr>
              <a:t>—  </a:t>
            </a:r>
            <a:r>
              <a:rPr sz="1300" b="0">
                <a:solidFill>
                  <a:srgbClr val="15201C"/>
                </a:solidFill>
                <a:latin typeface="Hanken Grotesk"/>
              </a:rPr>
              <a:t>Customer / admin separated at the pool level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6455664"/>
            <a:ext cx="10908792" cy="10972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WRAP-UP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5201C"/>
                </a:solidFill>
                <a:latin typeface="Space Grotesk"/>
              </a:rPr>
              <a:t>Status and what's next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874519"/>
            <a:ext cx="3593592" cy="24688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68680" y="2057400"/>
            <a:ext cx="475488" cy="475488"/>
          </a:xfrm>
          <a:prstGeom prst="roundRect">
            <a:avLst>
              <a:gd name="adj" fmla="val 28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7" name="Picture 6" descr="ch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5248" y="2123968"/>
            <a:ext cx="342351" cy="34235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472184" y="2093976"/>
            <a:ext cx="26791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5201C"/>
                </a:solidFill>
                <a:latin typeface="Space Grotesk"/>
              </a:rPr>
              <a:t>Live in dev + prod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679191"/>
            <a:ext cx="3191256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4000"/>
              </a:lnSpc>
            </a:pPr>
            <a:r>
              <a:rPr sz="1250" b="0">
                <a:solidFill>
                  <a:srgbClr val="6B7B73"/>
                </a:solidFill>
                <a:latin typeface="Hanken Grotesk"/>
              </a:rPr>
              <a:t>Create-link, landing /p/, conversion pipeline (15-min heartbeat), wallet, admin console with money KPIs, funnel analytics.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80560" y="1874519"/>
            <a:ext cx="3593592" cy="24688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663440" y="2057400"/>
            <a:ext cx="475488" cy="475488"/>
          </a:xfrm>
          <a:prstGeom prst="roundRect">
            <a:avLst>
              <a:gd name="adj" fmla="val 28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12" name="Picture 11" descr="co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30008" y="2123968"/>
            <a:ext cx="342351" cy="342351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266944" y="2093976"/>
            <a:ext cx="26791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5201C"/>
                </a:solidFill>
                <a:latin typeface="Space Grotesk"/>
              </a:rPr>
              <a:t>Critical path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81728" y="2679191"/>
            <a:ext cx="3191256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4000"/>
              </a:lnSpc>
            </a:pPr>
            <a:r>
              <a:rPr sz="1250" b="0">
                <a:solidFill>
                  <a:srgbClr val="6B7B73"/>
                </a:solidFill>
                <a:latin typeface="Hanken Grotesk"/>
              </a:rPr>
              <a:t>Meta WhatsApp onboarding (OTP at scale) + AliExpress app approval.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75320" y="1874519"/>
            <a:ext cx="3593592" cy="24688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458200" y="2057400"/>
            <a:ext cx="475488" cy="475488"/>
          </a:xfrm>
          <a:prstGeom prst="roundRect">
            <a:avLst>
              <a:gd name="adj" fmla="val 28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17" name="Picture 16" descr="targe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24768" y="2123968"/>
            <a:ext cx="342351" cy="342351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9061704" y="2093976"/>
            <a:ext cx="26791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5201C"/>
                </a:solidFill>
                <a:latin typeface="Space Grotesk"/>
              </a:rPr>
              <a:t>Month-3 gates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76488" y="2679191"/>
            <a:ext cx="3191256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4000"/>
              </a:lnSpc>
            </a:pPr>
            <a:r>
              <a:rPr sz="1250" b="0">
                <a:solidFill>
                  <a:srgbClr val="6B7B73"/>
                </a:solidFill>
                <a:latin typeface="Hanken Grotesk"/>
              </a:rPr>
              <a:t>Decide Phase 2: group sharing + two-sided rewards.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4846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F7A57"/>
                </a:solidFill>
                <a:latin typeface="Space Grotesk"/>
              </a:rPr>
              <a:t>Questions?</a:t>
            </a:r>
            <a:r>
              <a:rPr sz="1300" b="0">
                <a:solidFill>
                  <a:srgbClr val="8A968F"/>
                </a:solidFill>
                <a:latin typeface="Space Mono"/>
              </a:rPr>
              <a:t>    backup: sequence diagrams + the ADR map →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6455664"/>
            <a:ext cx="10908792" cy="10972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20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7FE0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23774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9DB6AB"/>
                </a:solidFill>
                <a:latin typeface="Space Mono"/>
              </a:rPr>
              <a:t>Q&amp;A MATERIAL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743200"/>
            <a:ext cx="100584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6000" b="1">
                <a:solidFill>
                  <a:srgbClr val="FFFFFF"/>
                </a:solidFill>
                <a:latin typeface="Space Grotesk"/>
              </a:rPr>
              <a:t>Backup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977639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9DB6AB"/>
                </a:solidFill>
                <a:latin typeface="Hanken Grotesk"/>
              </a:rPr>
              <a:t>Sequence diagrams for the main flows  ·  the ADR map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B1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15201C"/>
                </a:solidFill>
                <a:latin typeface="Space Grotesk"/>
              </a:rPr>
              <a:t>Sequence — customer auth, all four flows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083196" y="1618488"/>
            <a:ext cx="8025303" cy="4901184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6" name="Picture 5" descr="diagram-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47788" y="1783080"/>
            <a:ext cx="7696119" cy="45720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40080" y="6455664"/>
            <a:ext cx="10908792" cy="10972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B1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B2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15201C"/>
                </a:solidFill>
                <a:latin typeface="Space Grotesk"/>
              </a:rPr>
              <a:t>Sequence — create a link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684386" y="1618488"/>
            <a:ext cx="8822921" cy="4901184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6" name="Picture 5" descr="diagram-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48978" y="1783080"/>
            <a:ext cx="8493737" cy="45720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40080" y="6455664"/>
            <a:ext cx="10908792" cy="10972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B2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B3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15201C"/>
                </a:solidFill>
                <a:latin typeface="Space Grotesk"/>
              </a:rPr>
              <a:t>Sequence — click to ledger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733372" y="1618488"/>
            <a:ext cx="8724950" cy="4901184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6" name="Picture 5" descr="diagram-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97964" y="1783080"/>
            <a:ext cx="8395766" cy="45720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40080" y="6455664"/>
            <a:ext cx="10908792" cy="10972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B3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B4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15201C"/>
                </a:solidFill>
                <a:latin typeface="Space Grotesk"/>
              </a:rPr>
              <a:t>ADR map — locked: supersede, never edit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828800"/>
            <a:ext cx="3566160" cy="42976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68680" y="2011680"/>
            <a:ext cx="402336" cy="402336"/>
          </a:xfrm>
          <a:prstGeom prst="roundRect">
            <a:avLst>
              <a:gd name="adj" fmla="val 28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7" name="Picture 6" descr="ban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5007" y="2068007"/>
            <a:ext cx="289681" cy="28968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380744" y="2048256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15201C"/>
                </a:solidFill>
                <a:latin typeface="Space Grotesk"/>
              </a:rPr>
              <a:t>Architecture · 0001-0009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606040"/>
            <a:ext cx="32004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0001  monorepo + Zod contracts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0002  compute seams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0003  polyglot data, no RDS Proxy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0004  NAT-free network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0005  single region + backups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0006  Cognito-native auth + PII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0007  landing path + latency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0008  attribution: custom_parameters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0009  poller, not webhook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80560" y="1828800"/>
            <a:ext cx="3566160" cy="42976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663440" y="2011680"/>
            <a:ext cx="402336" cy="402336"/>
          </a:xfrm>
          <a:prstGeom prst="roundRect">
            <a:avLst>
              <a:gd name="adj" fmla="val 28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12" name="Picture 11" descr="slid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19767" y="2068007"/>
            <a:ext cx="289681" cy="289681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175504" y="2048256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15201C"/>
                </a:solidFill>
                <a:latin typeface="Space Grotesk"/>
              </a:rPr>
              <a:t>Stack · 0010-0016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81728" y="2606040"/>
            <a:ext cx="32004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0010  ESM / Node 24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0011  Hono + Powertools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0012  Kysely + SQL migrations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0013  Vitest + Testcontainers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0014  Biome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0015  GitHub Actions OIDC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0016  Vite SPA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75320" y="1828800"/>
            <a:ext cx="3566160" cy="42976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458200" y="2011680"/>
            <a:ext cx="402336" cy="402336"/>
          </a:xfrm>
          <a:prstGeom prst="roundRect">
            <a:avLst>
              <a:gd name="adj" fmla="val 28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17" name="Picture 16" descr="plu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14527" y="2068007"/>
            <a:ext cx="289681" cy="289681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970264" y="2048256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15201C"/>
                </a:solidFill>
                <a:latin typeface="Space Grotesk"/>
              </a:rPr>
              <a:t>Extensions · 0017-0021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76488" y="2606040"/>
            <a:ext cx="32004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0017  currency + FX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0018  CloudFront front door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0019  WhatsApp messaging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0020  sub = canonical id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0021  retailer throttling (interim)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6455664"/>
            <a:ext cx="10908792" cy="10972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B4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B5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15201C"/>
                </a:solidFill>
                <a:latin typeface="Space Grotesk"/>
              </a:rPr>
              <a:t>ADR-0002 + 0004 — compute seams and the NAT-free bet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804217" y="1618488"/>
            <a:ext cx="6583260" cy="4352544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6" name="Picture 5" descr="diagram-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68809" y="1783080"/>
            <a:ext cx="6254076" cy="402336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40080" y="6455664"/>
            <a:ext cx="10908792" cy="10972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B5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B6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15201C"/>
                </a:solidFill>
                <a:latin typeface="Space Grotesk"/>
              </a:rPr>
              <a:t>ADR-0003 + 0027 — where data lives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027848" y="1618488"/>
            <a:ext cx="8135997" cy="2935224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6" name="Picture 5" descr="diagram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2440" y="1783080"/>
            <a:ext cx="7806813" cy="26060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4709160"/>
            <a:ext cx="106070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200" b="1">
                <a:solidFill>
                  <a:srgbClr val="1F7A57"/>
                </a:solidFill>
                <a:latin typeface="Hanken Grotesk"/>
              </a:rPr>
              <a:t>—  </a:t>
            </a:r>
            <a:r>
              <a:rPr sz="1200" b="0">
                <a:solidFill>
                  <a:srgbClr val="15201C"/>
                </a:solidFill>
                <a:latin typeface="Hanken Grotesk"/>
              </a:rPr>
              <a:t>The customer table was dropped when PII moved to Cognito (migration 0006_money_only) — the ledger is keyed by the Cognito sub directly.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200" b="1">
                <a:solidFill>
                  <a:srgbClr val="1F7A57"/>
                </a:solidFill>
                <a:latin typeface="Hanken Grotesk"/>
              </a:rPr>
              <a:t>—  </a:t>
            </a:r>
            <a:r>
              <a:rPr sz="1200" b="0">
                <a:solidFill>
                  <a:srgbClr val="15201C"/>
                </a:solidFill>
                <a:latin typeface="Hanken Grotesk"/>
              </a:rPr>
              <a:t>Admin user search runs on ListUsers (one-attribute filters); fine at MVP scale — dual-write projection is the escape hatch.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200" b="1">
                <a:solidFill>
                  <a:srgbClr val="1F7A57"/>
                </a:solidFill>
                <a:latin typeface="Hanken Grotesk"/>
              </a:rPr>
              <a:t>—  </a:t>
            </a:r>
            <a:r>
              <a:rPr sz="1200" b="0">
                <a:solidFill>
                  <a:srgbClr val="15201C"/>
                </a:solidFill>
                <a:latin typeface="Hanken Grotesk"/>
              </a:rPr>
              <a:t>Trade-offs accepted: no SQL over PII, no PITR for the user pool, attribute changes have no built-in history.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6455664"/>
            <a:ext cx="10908792" cy="10972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B6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B7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15201C"/>
                </a:solidFill>
                <a:latin typeface="Space Grotesk"/>
              </a:rPr>
              <a:t>ADR-0008 + 0009 — attribution and polling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2103120"/>
            <a:ext cx="3593592" cy="27432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68680" y="2286000"/>
            <a:ext cx="475488" cy="475488"/>
          </a:xfrm>
          <a:prstGeom prst="roundRect">
            <a:avLst>
              <a:gd name="adj" fmla="val 28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7" name="Picture 6" descr="lin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5248" y="2352568"/>
            <a:ext cx="342351" cy="34235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472184" y="2322576"/>
            <a:ext cx="26791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5201C"/>
                </a:solidFill>
                <a:latin typeface="Space Grotesk"/>
              </a:rPr>
              <a:t>Attribution in the URL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907791"/>
            <a:ext cx="3191256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4000"/>
              </a:lnSpc>
            </a:pPr>
            <a:r>
              <a:rPr sz="1200" b="0">
                <a:solidFill>
                  <a:srgbClr val="6B7B73"/>
                </a:solidFill>
                <a:latin typeface="Hanken Grotesk"/>
              </a:rPr>
              <a:t>custom_parameters on the retailer redirect — no click-log lookup, no cookies; the 3-day window is the retailer's, not ours.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80560" y="2103120"/>
            <a:ext cx="3593592" cy="27432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663440" y="2286000"/>
            <a:ext cx="475488" cy="475488"/>
          </a:xfrm>
          <a:prstGeom prst="roundRect">
            <a:avLst>
              <a:gd name="adj" fmla="val 28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12" name="Picture 11" descr="refres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30008" y="2352568"/>
            <a:ext cx="342351" cy="342351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266944" y="2322576"/>
            <a:ext cx="26791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5201C"/>
                </a:solidFill>
                <a:latin typeface="Space Grotesk"/>
              </a:rPr>
              <a:t>Scheduled reconciliation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81728" y="2907791"/>
            <a:ext cx="3191256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4000"/>
              </a:lnSpc>
            </a:pPr>
            <a:r>
              <a:rPr sz="1200" b="0">
                <a:solidFill>
                  <a:srgbClr val="6B7B73"/>
                </a:solidFill>
                <a:latin typeface="Hanken Grotesk"/>
              </a:rPr>
              <a:t>listOrdersByIndex polling: idempotent by the unique (order_id, kind, status) index; replayable from the poller_state cursor; nothing to spoof.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75320" y="2103120"/>
            <a:ext cx="3593592" cy="27432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458200" y="2286000"/>
            <a:ext cx="475488" cy="475488"/>
          </a:xfrm>
          <a:prstGeom prst="roundRect">
            <a:avLst>
              <a:gd name="adj" fmla="val 28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17" name="Picture 16" descr="inbo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24768" y="2352568"/>
            <a:ext cx="342351" cy="342351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9061704" y="2322576"/>
            <a:ext cx="26791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5201C"/>
                </a:solidFill>
                <a:latin typeface="Space Grotesk"/>
              </a:rPr>
              <a:t>Unmatched orders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76488" y="2907791"/>
            <a:ext cx="3191256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4000"/>
              </a:lnSpc>
            </a:pPr>
            <a:r>
              <a:rPr sz="1200" b="0">
                <a:solidFill>
                  <a:srgbClr val="6B7B73"/>
                </a:solidFill>
                <a:latin typeface="Hanken Grotesk"/>
              </a:rPr>
              <a:t>Park in unattributed_order — an admin claim queue settled on the next heartbeat.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6455664"/>
            <a:ext cx="10908792" cy="10972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B7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B8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15201C"/>
                </a:solidFill>
                <a:latin typeface="Space Grotesk"/>
              </a:rPr>
              <a:t>ADR-0017 — currency model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2103120"/>
            <a:ext cx="3593592" cy="27432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68680" y="2286000"/>
            <a:ext cx="475488" cy="475488"/>
          </a:xfrm>
          <a:prstGeom prst="roundRect">
            <a:avLst>
              <a:gd name="adj" fmla="val 28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7" name="Picture 6" descr="exchan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5248" y="2352568"/>
            <a:ext cx="342351" cy="34235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472184" y="2322576"/>
            <a:ext cx="26791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5201C"/>
                </a:solidFill>
                <a:latin typeface="Space Grotesk"/>
              </a:rPr>
              <a:t>Hold the settlement currency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907791"/>
            <a:ext cx="3191256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4000"/>
              </a:lnSpc>
            </a:pPr>
            <a:r>
              <a:rPr sz="1200" b="0">
                <a:solidFill>
                  <a:srgbClr val="6B7B73"/>
                </a:solidFill>
                <a:latin typeface="Hanken Grotesk"/>
              </a:rPr>
              <a:t>Cashback is stored in what AliExpress actually pays — the wallet shows real per-currency holdings.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80560" y="2103120"/>
            <a:ext cx="3593592" cy="27432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663440" y="2286000"/>
            <a:ext cx="475488" cy="475488"/>
          </a:xfrm>
          <a:prstGeom prst="roundRect">
            <a:avLst>
              <a:gd name="adj" fmla="val 28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12" name="Picture 11" descr="cha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30008" y="2352568"/>
            <a:ext cx="342351" cy="342351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266944" y="2322576"/>
            <a:ext cx="26791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5201C"/>
                </a:solidFill>
                <a:latin typeface="Space Grotesk"/>
              </a:rPr>
              <a:t>ILS is a display estimate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81728" y="2907791"/>
            <a:ext cx="3191256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4000"/>
              </a:lnSpc>
            </a:pPr>
            <a:r>
              <a:rPr sz="1200" b="0">
                <a:solidFill>
                  <a:srgbClr val="6B7B73"/>
                </a:solidFill>
                <a:latin typeface="Hanken Grotesk"/>
              </a:rPr>
              <a:t>The headline (~₪142.50, "Estimated" chip) comes from the fx_rate cache — Bank of Israel rate, refreshed every 12 h.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75320" y="2103120"/>
            <a:ext cx="3593592" cy="27432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458200" y="2286000"/>
            <a:ext cx="475488" cy="475488"/>
          </a:xfrm>
          <a:prstGeom prst="roundRect">
            <a:avLst>
              <a:gd name="adj" fmla="val 28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17" name="Picture 16" descr="ban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24768" y="2352568"/>
            <a:ext cx="342351" cy="342351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9061704" y="2322576"/>
            <a:ext cx="26791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5201C"/>
                </a:solidFill>
                <a:latin typeface="Space Grotesk"/>
              </a:rPr>
              <a:t>Convert once, at withdrawal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76488" y="2907791"/>
            <a:ext cx="3191256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4000"/>
              </a:lnSpc>
            </a:pPr>
            <a:r>
              <a:rPr sz="1200" b="0">
                <a:solidFill>
                  <a:srgbClr val="6B7B73"/>
                </a:solidFill>
                <a:latin typeface="Hanken Grotesk"/>
              </a:rPr>
              <a:t>No FX risk carried on displayed balances.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6455664"/>
            <a:ext cx="10908792" cy="10972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B8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