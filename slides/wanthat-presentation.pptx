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Wanthat turns the product links people already send to friends into cashback — I'll show the product in two minutes, then spend the rest on how it's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Word-of-mouth drives 20-50% of purchases and nobody pays for it. We are not building an influencer platform — the persona is a regular person in four family WhatsApp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gates decide Phase 2 (group sharing, two-sided rewards) and a pre-seed raise.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loop is two taps for the member; the friend's landing carries the personal review, which is the trust mechanic. Screens are the design-handoff mocks.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"Estimated" chip — cashback is held in the settlement currency and the ILS headline is a display estimate (ADR-0017); conversion happens at withdrawal.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drove every decision that follows; when two conflicted, cost and money-safety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right: (1) no auth service — the browser talks to Cognito directly; OTP rides a custom sender, WhatsApp-default, kill-switched. (2) Member APIs split into non-VPC app-links and in-VPC app-core — only what touches money enters the VPC. (3) The friend's click never leaves DynamoDB. (4) Money enters only through the scheduled pipeline: retailer-proxy fetches, the in-VPC writer appends. Full per-table version in docs/AWS_Architecture.md.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sub is the only join key between the three worlds — that's what makes user deletion clean and keeps the ledger pseudonymous.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previous design proxied every ceremony through app code to win one feature (userless Face ID); waiving that requirement deleted two Lambdas, three tables and a crypto path — backup slide B1 has the full sequence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Latency budget is relaxed-but-reachable (ADR-0007); the whole path is DynamoDB reads.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Idempotency: the unique (order_id, kind, status) index makes every poll replayable.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security model leans on the platform: GRANTs and pool separation over custom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Registration IS SignUp; OTP and passkey logins; the only Aurora touch is the wallet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Cache-first product resolve; on miss the proxy calls AliExpress; both writes are same-table transactions with their counter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Impression, click, purchase, 15-min poll, attribution resolve, append-only ledger + audit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what touches Aurora enters the VPC; in-VPC functions cannot call out — the conversion chain is always proxy → writer; a NAT Gateway would be the single biggest fixed cost in the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9DB6AB"/>
                </a:solidFill>
                <a:latin typeface="Space Mono"/>
              </a:rPr>
              <a:t>ISRAEL MVP  ·  AWS SERVERLESS  ·  IL-CENTRAL-1 (TEL AVIV)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 i="0">
                <a:solidFill>
                  <a:srgbClr val="FFFFFF"/>
                </a:solidFill>
                <a:latin typeface="Space Grotesk"/>
              </a:rPr>
              <a:t>want</a:t>
            </a:r>
            <a:r>
              <a:rPr sz="7200" b="1" i="0">
                <a:solidFill>
                  <a:srgbClr val="7FE0B0"/>
                </a:solidFill>
                <a:latin typeface="Space Grotesk"/>
              </a:rPr>
              <a:t>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 i="0">
                <a:solidFill>
                  <a:srgbClr val="BFD3CB"/>
                </a:solidFill>
                <a:latin typeface="Space Grotesk"/>
              </a:rPr>
              <a:t>Earn cashback by sharing what you love.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9DB6AB"/>
                </a:solidFill>
                <a:latin typeface="Hanken Grotesk"/>
              </a:rPr>
              <a:t>Product &amp; architecture overview — 20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0749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 i="0">
                <a:solidFill>
                  <a:srgbClr val="9DB6AB"/>
                </a:solidFill>
                <a:latin typeface="Space Mono"/>
              </a:rPr>
              <a:t>1 · the business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9464" y="5074920"/>
            <a:ext cx="145846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 i="0">
                <a:solidFill>
                  <a:srgbClr val="9DB6AB"/>
                </a:solidFill>
                <a:latin typeface="Space Mono"/>
              </a:rPr>
              <a:t>2 · the 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2524" y="5074920"/>
            <a:ext cx="184708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 i="0">
                <a:solidFill>
                  <a:srgbClr val="9DB6AB"/>
                </a:solidFill>
                <a:latin typeface="Space Mono"/>
              </a:rPr>
              <a:t>3 · the architecture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4204" y="5074920"/>
            <a:ext cx="1769364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 i="0">
                <a:solidFill>
                  <a:srgbClr val="9DB6AB"/>
                </a:solidFill>
                <a:latin typeface="Space Mono"/>
              </a:rPr>
              <a:t>backup · deep dives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 i="0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5201C"/>
                </a:solidFill>
                <a:latin typeface="Space Grotesk"/>
              </a:rPr>
              <a:t>Every everyday shopper becomes an affiliate — automatically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502920" cy="41148"/>
          </a:xfrm>
          <a:prstGeom prst="rect">
            <a:avLst/>
          </a:prstGeom>
          <a:solidFill>
            <a:srgbClr val="1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0078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 i="0">
                <a:solidFill>
                  <a:srgbClr val="8A968F"/>
                </a:solidFill>
                <a:latin typeface="Space Mono"/>
              </a:rPr>
              <a:t>THE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11680"/>
            <a:ext cx="5349240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400" b="1" i="0">
                <a:solidFill>
                  <a:srgbClr val="15201C"/>
                </a:solidFill>
                <a:latin typeface="Space Grotesk"/>
              </a:rPr>
              <a:t>Shoppers  </a:t>
            </a:r>
          </a:p>
          <a:p>
            <a:pPr>
              <a:lnSpc>
                <a:spcPct val="112000"/>
              </a:lnSpc>
            </a:pPr>
            <a:r>
              <a:rPr sz="1200" b="0" i="0">
                <a:solidFill>
                  <a:srgbClr val="6B7B73"/>
                </a:solidFill>
                <a:latin typeface="Hanken Grotesk"/>
              </a:rPr>
              <a:t>share product links every day — "where did you get that?" — and earn nothing for the purchases they drive.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438144"/>
            <a:ext cx="5349240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400" b="1" i="0">
                <a:solidFill>
                  <a:srgbClr val="15201C"/>
                </a:solidFill>
                <a:latin typeface="Space Grotesk"/>
              </a:rPr>
              <a:t>Cashback platforms  </a:t>
            </a:r>
          </a:p>
          <a:p>
            <a:pPr>
              <a:lnSpc>
                <a:spcPct val="112000"/>
              </a:lnSpc>
            </a:pPr>
            <a:r>
              <a:rPr sz="1200" b="0" i="0">
                <a:solidFill>
                  <a:srgbClr val="6B7B73"/>
                </a:solidFill>
                <a:latin typeface="Hanken Grotesk"/>
              </a:rPr>
              <a:t>reward passive shopping through their own portal; the social recommendation goes unpaid and unmeasured.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864608"/>
            <a:ext cx="5349240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400" b="1" i="0">
                <a:solidFill>
                  <a:srgbClr val="15201C"/>
                </a:solidFill>
                <a:latin typeface="Space Grotesk"/>
              </a:rPr>
              <a:t>Brands  </a:t>
            </a:r>
          </a:p>
          <a:p>
            <a:pPr>
              <a:lnSpc>
                <a:spcPct val="112000"/>
              </a:lnSpc>
            </a:pPr>
            <a:r>
              <a:rPr sz="1200" b="0" i="0">
                <a:solidFill>
                  <a:srgbClr val="6B7B73"/>
                </a:solidFill>
                <a:latin typeface="Hanken Grotesk"/>
              </a:rPr>
              <a:t>keep growing influencer budgets while organic word-of-mouth — which converts better — stays invisible.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70078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 i="0">
                <a:solidFill>
                  <a:srgbClr val="1F7A57"/>
                </a:solidFill>
                <a:latin typeface="Space Mono"/>
              </a:rPr>
              <a:t>THE PRODUCT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2011680"/>
            <a:ext cx="5074920" cy="64008"/>
          </a:xfrm>
          <a:prstGeom prst="rect">
            <a:avLst/>
          </a:prstGeom>
          <a:solidFill>
            <a:srgbClr val="1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46520" y="2075688"/>
            <a:ext cx="5074920" cy="4050791"/>
          </a:xfrm>
          <a:prstGeom prst="roundRect">
            <a:avLst>
              <a:gd name="adj" fmla="val 6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25000"/>
              </a:lnSpc>
            </a:pPr>
            <a:r>
              <a:rPr sz="1550" b="1" i="0">
                <a:solidFill>
                  <a:srgbClr val="15201C"/>
                </a:solidFill>
                <a:latin typeface="Hanken Grotesk"/>
              </a:rPr>
              <a:t>Wanthat turns the link you already send into a tracked affiliate link. </a:t>
            </a:r>
            <a:r>
              <a:rPr sz="1550" b="0" i="0">
                <a:solidFill>
                  <a:srgbClr val="15201C"/>
                </a:solidFill>
                <a:latin typeface="Hanken Grotesk"/>
              </a:rPr>
              <a:t>Wanthat is the single registered affiliate across AliExpress / Awin / eBay — when a friend buys, the commission flows in and the majority is credited back to the recommender as cashback.</a:t>
            </a:r>
          </a:p>
          <a:p>
            <a:pPr>
              <a:spcBef>
                <a:spcPts val="1400"/>
              </a:spcBef>
            </a:pPr>
            <a:r>
              <a:rPr sz="1450" b="1" i="0">
                <a:solidFill>
                  <a:srgbClr val="1F7A57"/>
                </a:solidFill>
                <a:latin typeface="Space Grotesk"/>
              </a:rPr>
              <a:t>It monetizes a behavior that already exists — without changing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 i="0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8F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 i="0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5201C"/>
                </a:solidFill>
                <a:latin typeface="Space Grotesk"/>
              </a:rPr>
              <a:t>Why Israel, 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502920" cy="41148"/>
          </a:xfrm>
          <a:prstGeom prst="rect">
            <a:avLst/>
          </a:prstGeom>
          <a:solidFill>
            <a:srgbClr val="1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3200" b="1" i="0">
                <a:solidFill>
                  <a:srgbClr val="1F7A57"/>
                </a:solidFill>
                <a:latin typeface="Space Grotesk"/>
              </a:rPr>
              <a:t>66%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1200" b="0" i="0">
                <a:solidFill>
                  <a:srgbClr val="6B7B73"/>
                </a:solidFill>
                <a:latin typeface="Hanken Grotesk"/>
              </a:rPr>
              <a:t>of Israeli online orders are AliExpress — the MVP integration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3200" b="1" i="0">
                <a:solidFill>
                  <a:srgbClr val="1F7A57"/>
                </a:solidFill>
                <a:latin typeface="Space Grotesk"/>
              </a:rPr>
              <a:t>#1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1200" b="0" i="0">
                <a:solidFill>
                  <a:srgbClr val="6B7B73"/>
                </a:solidFill>
                <a:latin typeface="Hanken Grotesk"/>
              </a:rPr>
              <a:t>WhatsApp penetration among the highest globally — group sharing is a daily habit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3200" b="1" i="0">
                <a:solidFill>
                  <a:srgbClr val="1F7A57"/>
                </a:solidFill>
                <a:latin typeface="Space Grotesk"/>
              </a:rPr>
              <a:t>$17B+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1200" b="0" i="0">
                <a:solidFill>
                  <a:srgbClr val="6B7B73"/>
                </a:solidFill>
                <a:latin typeface="Hanken Grotesk"/>
              </a:rPr>
              <a:t>global affiliate market — a proven commercial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3200" b="1" i="0">
                <a:solidFill>
                  <a:srgbClr val="1F7A57"/>
                </a:solidFill>
                <a:latin typeface="Space Grotesk"/>
              </a:rPr>
              <a:t>3 days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1200" b="0" i="0">
                <a:solidFill>
                  <a:srgbClr val="6B7B73"/>
                </a:solidFill>
                <a:latin typeface="Hanken Grotesk"/>
              </a:rPr>
              <a:t>AliExpress attribution window — sharing must be instant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3200" b="1" i="0">
                <a:solidFill>
                  <a:srgbClr val="1F7A57"/>
                </a:solidFill>
                <a:latin typeface="Space Grotesk"/>
              </a:rPr>
              <a:t>₪50+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1200" b="0" i="0">
                <a:solidFill>
                  <a:srgbClr val="6B7B73"/>
                </a:solidFill>
                <a:latin typeface="Hanken Grotesk"/>
              </a:rPr>
              <a:t>payout via bank / card / Bit / PayBox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3200" b="1" i="0">
                <a:solidFill>
                  <a:srgbClr val="1F7A57"/>
                </a:solidFill>
                <a:latin typeface="Space Grotesk"/>
              </a:rPr>
              <a:t>Month 3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1200" b="0" i="0">
                <a:solidFill>
                  <a:srgbClr val="6B7B73"/>
                </a:solidFill>
                <a:latin typeface="Hanken Grotesk"/>
              </a:rPr>
              <a:t>gates: 500 active sharers · &gt;20% CTR · &gt;6% conversion · &gt;50% 30-day return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 i="0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8F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 i="0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5201C"/>
                </a:solidFill>
                <a:latin typeface="Space Grotesk"/>
              </a:rPr>
              <a:t>How it works — share a recommendation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502920" cy="41148"/>
          </a:xfrm>
          <a:prstGeom prst="rect">
            <a:avLst/>
          </a:prstGeom>
          <a:solidFill>
            <a:srgbClr val="1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 i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6" name="Picture 5" descr="flow-1-create-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 i="0">
                <a:solidFill>
                  <a:srgbClr val="6B7B73"/>
                </a:solidFill>
                <a:latin typeface="Hanken Grotesk"/>
              </a:rPr>
              <a:t>  Member pastes a product 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2541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2172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 i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10" name="Picture 9" descr="flow-2-link-rea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472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623592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 i="0">
                <a:solidFill>
                  <a:srgbClr val="6B7B73"/>
                </a:solidFill>
                <a:latin typeface="Hanken Grotesk"/>
              </a:rPr>
              <a:t>  Link ready — cashback split shown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1814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1444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 i="0">
                <a:solidFill>
                  <a:srgbClr val="6B7B73"/>
                </a:solidFill>
                <a:latin typeface="Space Mono"/>
              </a:rPr>
              <a:t>WhatsApp — off-platform</a:t>
            </a:r>
          </a:p>
        </p:txBody>
      </p:sp>
      <p:pic>
        <p:nvPicPr>
          <p:cNvPr id="14" name="Picture 13" descr="flow-3-whatsapp-sh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5744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972864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 i="0">
                <a:solidFill>
                  <a:srgbClr val="6B7B73"/>
                </a:solidFill>
                <a:latin typeface="Hanken Grotesk"/>
              </a:rPr>
              <a:t>  Shared — disclosure included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1086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90717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 i="0">
                <a:solidFill>
                  <a:srgbClr val="6B7B73"/>
                </a:solidFill>
                <a:latin typeface="Space Mono"/>
              </a:rPr>
              <a:t>wanthat.app/p/Mx7Qa</a:t>
            </a:r>
          </a:p>
        </p:txBody>
      </p:sp>
      <p:pic>
        <p:nvPicPr>
          <p:cNvPr id="18" name="Picture 17" descr="flow-4-friend-landin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5017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322137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>
                <a:solidFill>
                  <a:srgbClr val="1F7A57"/>
                </a:solidFill>
                <a:latin typeface="Space Grotesk"/>
              </a:rPr>
              <a:t>4</a:t>
            </a:r>
            <a:r>
              <a:rPr sz="1100" b="0" i="0">
                <a:solidFill>
                  <a:srgbClr val="6B7B73"/>
                </a:solidFill>
                <a:latin typeface="Hanken Grotesk"/>
              </a:rPr>
              <a:t>  Friend opens the branded landing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0358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39989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 i="0">
                <a:solidFill>
                  <a:srgbClr val="6B7B73"/>
                </a:solidFill>
                <a:latin typeface="Space Mono"/>
              </a:rPr>
              <a:t>→ aliexpress.com</a:t>
            </a:r>
          </a:p>
        </p:txBody>
      </p:sp>
      <p:pic>
        <p:nvPicPr>
          <p:cNvPr id="22" name="Picture 21" descr="flow-5-redirect-sto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4289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671409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>
                <a:solidFill>
                  <a:srgbClr val="1F7A57"/>
                </a:solidFill>
                <a:latin typeface="Space Grotesk"/>
              </a:rPr>
              <a:t>5</a:t>
            </a:r>
            <a:r>
              <a:rPr sz="1100" b="0" i="0">
                <a:solidFill>
                  <a:srgbClr val="6B7B73"/>
                </a:solidFill>
                <a:latin typeface="Hanken Grotesk"/>
              </a:rPr>
              <a:t>  Sent to the store — attributed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 i="0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8F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 i="0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5201C"/>
                </a:solidFill>
                <a:latin typeface="Space Grotesk"/>
              </a:rPr>
              <a:t>How it works — the cashback comes 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502920" cy="41148"/>
          </a:xfrm>
          <a:prstGeom prst="rect">
            <a:avLst/>
          </a:prstGeom>
          <a:solidFill>
            <a:srgbClr val="1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 i="0">
                <a:solidFill>
                  <a:srgbClr val="6B7B73"/>
                </a:solidFill>
                <a:latin typeface="Space Mono"/>
              </a:rPr>
              <a:t>wanthat.app/activity</a:t>
            </a:r>
          </a:p>
        </p:txBody>
      </p:sp>
      <p:pic>
        <p:nvPicPr>
          <p:cNvPr id="6" name="Picture 5" descr="earn-1-activ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 i="0">
                <a:solidFill>
                  <a:srgbClr val="6B7B73"/>
                </a:solidFill>
                <a:latin typeface="Hanken Grotesk"/>
              </a:rPr>
              <a:t>  Conversion tracked — pending until the store confirms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4395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5517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 i="0">
                <a:solidFill>
                  <a:srgbClr val="6B7B73"/>
                </a:solidFill>
                <a:latin typeface="Space Mono"/>
              </a:rPr>
              <a:t>wanthat.app/home</a:t>
            </a:r>
          </a:p>
        </p:txBody>
      </p:sp>
      <p:pic>
        <p:nvPicPr>
          <p:cNvPr id="10" name="Picture 9" descr="earn-2-wallet-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817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866937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 i="0">
                <a:solidFill>
                  <a:srgbClr val="6B7B73"/>
                </a:solidFill>
                <a:latin typeface="Hanken Grotesk"/>
              </a:rPr>
              <a:t>  Wallet credited — estimated ILS over real currencies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7013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8135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 i="0">
                <a:solidFill>
                  <a:srgbClr val="6B7B73"/>
                </a:solidFill>
                <a:latin typeface="Space Mono"/>
              </a:rPr>
              <a:t>wanthat.app/withdraw</a:t>
            </a:r>
          </a:p>
        </p:txBody>
      </p:sp>
      <p:pic>
        <p:nvPicPr>
          <p:cNvPr id="14" name="Picture 13" descr="earn-3-withdra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2435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59555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 i="0">
                <a:solidFill>
                  <a:srgbClr val="6B7B73"/>
                </a:solidFill>
                <a:latin typeface="Hanken Grotesk"/>
              </a:rPr>
              <a:t>  Withdraw from ₪50 — bank, card, Bit or PayBox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 i="0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8F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 i="0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5201C"/>
                </a:solidFill>
                <a:latin typeface="Space Grotesk"/>
              </a:rPr>
              <a:t>Engineering principles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502920" cy="41148"/>
          </a:xfrm>
          <a:prstGeom prst="rect">
            <a:avLst/>
          </a:prstGeom>
          <a:solidFill>
            <a:srgbClr val="1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920240"/>
            <a:ext cx="2157984" cy="64008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984248"/>
            <a:ext cx="2157984" cy="36850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500" b="1" i="0">
                <a:solidFill>
                  <a:srgbClr val="15201C"/>
                </a:solidFill>
                <a:latin typeface="Space Grotesk"/>
              </a:rPr>
              <a:t>Monorepo,</a:t>
            </a:r>
          </a:p>
          <a:p>
            <a:r>
              <a:rPr sz="1500" b="1" i="0">
                <a:solidFill>
                  <a:srgbClr val="15201C"/>
                </a:solidFill>
                <a:latin typeface="Space Grotesk"/>
              </a:rPr>
              <a:t>schema-first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 b="0" i="0">
                <a:solidFill>
                  <a:srgbClr val="6B7B73"/>
                </a:solidFill>
                <a:latin typeface="Hanken Grotesk"/>
              </a:rPr>
              <a:t>pnpm + Turborepo, TypeScript everywhere (Node 24, arm64). Zod contracts: inferred types + runtime validation at every boundary.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2962656" y="1920240"/>
            <a:ext cx="2157984" cy="64008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962656" y="1984248"/>
            <a:ext cx="2157984" cy="36850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500" b="1" i="0">
                <a:solidFill>
                  <a:srgbClr val="15201C"/>
                </a:solidFill>
                <a:latin typeface="Space Grotesk"/>
              </a:rPr>
              <a:t>Everything</a:t>
            </a:r>
          </a:p>
          <a:p>
            <a:r>
              <a:rPr sz="1500" b="1" i="0">
                <a:solidFill>
                  <a:srgbClr val="15201C"/>
                </a:solidFill>
                <a:latin typeface="Space Grotesk"/>
              </a:rPr>
              <a:t>as code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 b="0" i="0">
                <a:solidFill>
                  <a:srgbClr val="6B7B73"/>
                </a:solidFill>
                <a:latin typeface="Hanken Grotesk"/>
              </a:rPr>
              <a:t>AWS CDK v2; per-env stacks; zero console changes. PRs run CI + cdk diff; merge deploys dev; SQL migrations run in-deploy.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1920240"/>
            <a:ext cx="2157984" cy="64008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66944" y="1984248"/>
            <a:ext cx="2157984" cy="36850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500" b="1" i="0">
                <a:solidFill>
                  <a:srgbClr val="15201C"/>
                </a:solidFill>
                <a:latin typeface="Space Grotesk"/>
              </a:rPr>
              <a:t>Decisions</a:t>
            </a:r>
          </a:p>
          <a:p>
            <a:r>
              <a:rPr sz="1500" b="1" i="0">
                <a:solidFill>
                  <a:srgbClr val="15201C"/>
                </a:solidFill>
                <a:latin typeface="Space Grotesk"/>
              </a:rPr>
              <a:t>on record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 b="0" i="0">
                <a:solidFill>
                  <a:srgbClr val="6B7B73"/>
                </a:solidFill>
                <a:latin typeface="Hanken Grotesk"/>
              </a:rPr>
              <a:t>21 ADRs beside the code. Locked: change = a new superseding ADR, never an edit.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71232" y="1920240"/>
            <a:ext cx="2157984" cy="64008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71232" y="1984248"/>
            <a:ext cx="2157984" cy="36850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500" b="1" i="0">
                <a:solidFill>
                  <a:srgbClr val="15201C"/>
                </a:solidFill>
                <a:latin typeface="Space Grotesk"/>
              </a:rPr>
              <a:t>Optimize</a:t>
            </a:r>
          </a:p>
          <a:p>
            <a:r>
              <a:rPr sz="1500" b="1" i="0">
                <a:solidFill>
                  <a:srgbClr val="15201C"/>
                </a:solidFill>
                <a:latin typeface="Space Grotesk"/>
              </a:rPr>
              <a:t>for cost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 b="0" i="0">
                <a:solidFill>
                  <a:srgbClr val="6B7B73"/>
                </a:solidFill>
                <a:latin typeface="Hanken Grotesk"/>
              </a:rPr>
              <a:t>No NAT, no RDS Proxy, zero interface endpoints, scale-to-zero Aurora, on-demand DynamoDB. The dominant cost is OTP delivery.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75520" y="1920240"/>
            <a:ext cx="2157984" cy="64008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75520" y="1984248"/>
            <a:ext cx="2157984" cy="36850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500" b="1" i="0">
                <a:solidFill>
                  <a:srgbClr val="15201C"/>
                </a:solidFill>
                <a:latin typeface="Space Grotesk"/>
              </a:rPr>
              <a:t>Zero</a:t>
            </a:r>
          </a:p>
          <a:p>
            <a:r>
              <a:rPr sz="1500" b="1" i="0">
                <a:solidFill>
                  <a:srgbClr val="15201C"/>
                </a:solidFill>
                <a:latin typeface="Space Grotesk"/>
              </a:rPr>
              <a:t>to scale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 b="0" i="0">
                <a:solidFill>
                  <a:srgbClr val="6B7B73"/>
                </a:solidFill>
                <a:latin typeface="Hanken Grotesk"/>
              </a:rPr>
              <a:t>A link going viral in a WhatsApp group is the design load: the hot path is non-VPC Lambda + DynamoDB — never SQL.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 i="0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8F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 i="0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5201C"/>
                </a:solidFill>
                <a:latin typeface="Space Grotesk"/>
              </a:rPr>
              <a:t>Architecture — the whole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502920" cy="41148"/>
          </a:xfrm>
          <a:prstGeom prst="rect">
            <a:avLst/>
          </a:prstGeom>
          <a:solidFill>
            <a:srgbClr val="1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07695" y="1709928"/>
            <a:ext cx="11576304" cy="393884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874519"/>
            <a:ext cx="11247120" cy="360966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 i="0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8F"/>
                </a:solidFill>
                <a:latin typeface="Space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 i="0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5201C"/>
                </a:solidFill>
                <a:latin typeface="Space Grotesk"/>
              </a:rPr>
              <a:t>Data — three homes, one rule each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502920" cy="41148"/>
          </a:xfrm>
          <a:prstGeom prst="rect">
            <a:avLst/>
          </a:prstGeom>
          <a:solidFill>
            <a:srgbClr val="1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507214" y="1645920"/>
            <a:ext cx="7177266" cy="26151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806" y="1810512"/>
            <a:ext cx="6848082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315968"/>
            <a:ext cx="10881360" cy="1993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250" b="1" i="0">
                <a:solidFill>
                  <a:srgbClr val="15201C"/>
                </a:solidFill>
                <a:latin typeface="Hanken Grotesk"/>
              </a:rPr>
              <a:t>PII lives in Cognito </a:t>
            </a:r>
            <a:r>
              <a:rPr sz="1250" b="0" i="0">
                <a:solidFill>
                  <a:srgbClr val="15201C"/>
                </a:solidFill>
                <a:latin typeface="Hanken Grotesk"/>
              </a:rPr>
              <a:t>— profile = ID-token claims; GDPR delete = one API call; the auth path never touches a database (ADR-0027).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250" b="1" i="0">
                <a:solidFill>
                  <a:srgbClr val="15201C"/>
                </a:solidFill>
                <a:latin typeface="Hanken Grotesk"/>
              </a:rPr>
              <a:t>Aurora holds money only </a:t>
            </a:r>
            <a:r>
              <a:rPr sz="1250" b="0" i="0">
                <a:solidFill>
                  <a:srgbClr val="15201C"/>
                </a:solidFill>
                <a:latin typeface="Hanken Grotesk"/>
              </a:rPr>
              <a:t>— append-only ledger + hash-chained audit log; balances always derived. Postgres GRANTs enforce it: app_rw only SELECTs, poller_writer only INSERTs.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250" b="1" i="0">
                <a:solidFill>
                  <a:srgbClr val="15201C"/>
                </a:solidFill>
                <a:latin typeface="Hanken Grotesk"/>
              </a:rPr>
              <a:t>DynamoDB for everything else </a:t>
            </a:r>
            <a:r>
              <a:rPr sz="1250" b="0" i="0">
                <a:solidFill>
                  <a:srgbClr val="15201C"/>
                </a:solidFill>
                <a:latin typeface="Hanken Grotesk"/>
              </a:rPr>
              <a:t>— 10 on-demand tables; $0 idle, unlimited burst.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250" b="1" i="0">
                <a:solidFill>
                  <a:srgbClr val="15201C"/>
                </a:solidFill>
                <a:latin typeface="Hanken Grotesk"/>
              </a:rPr>
              <a:t>No cross-table transactions, by design </a:t>
            </a:r>
            <a:r>
              <a:rPr sz="1250" b="0" i="0">
                <a:solidFill>
                  <a:srgbClr val="15201C"/>
                </a:solidFill>
                <a:latin typeface="Hanken Grotesk"/>
              </a:rPr>
              <a:t>— counters live inside the counted table; ledger + audit are sequential idempotent appends behind a unique (order_id, kind, status) index.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 i="0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8F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 i="0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5201C"/>
                </a:solidFill>
                <a:latin typeface="Space Grotesk"/>
              </a:rPr>
              <a:t>Auth without an auth service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502920" cy="41148"/>
          </a:xfrm>
          <a:prstGeom prst="rect">
            <a:avLst/>
          </a:prstGeom>
          <a:solidFill>
            <a:srgbClr val="1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1088136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5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550" b="1" i="0">
                <a:solidFill>
                  <a:srgbClr val="15201C"/>
                </a:solidFill>
                <a:latin typeface="Hanken Grotesk"/>
              </a:rPr>
              <a:t>Browser-direct. </a:t>
            </a:r>
            <a:r>
              <a:rPr sz="1550" b="0" i="0">
                <a:solidFill>
                  <a:srgbClr val="15201C"/>
                </a:solidFill>
                <a:latin typeface="Hanken Grotesk"/>
              </a:rPr>
              <a:t>The SPA calls the public Cognito API — SignUp, InitiateAuth (USER_AUTH), native WEB_AUTHN passkeys. Zero backend calls to log in; the first backend touch is GET /wallet.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5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550" b="1" i="0">
                <a:solidFill>
                  <a:srgbClr val="15201C"/>
                </a:solidFill>
                <a:latin typeface="Hanken Grotesk"/>
              </a:rPr>
              <a:t>OTP. </a:t>
            </a:r>
            <a:r>
              <a:rPr sz="1550" b="0" i="0">
                <a:solidFill>
                  <a:srgbClr val="15201C"/>
                </a:solidFill>
                <a:latin typeface="Hanken Grotesk"/>
              </a:rPr>
              <a:t>WhatsApp-default / SMS-fallback via the custom-sender Lambda — sticky per-user preference, runtime-config kill switches, account-wide SMS spend hard cap.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5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550" b="1" i="0">
                <a:solidFill>
                  <a:srgbClr val="15201C"/>
                </a:solidFill>
                <a:latin typeface="Hanken Grotesk"/>
              </a:rPr>
              <a:t>Face ID. </a:t>
            </a:r>
            <a:r>
              <a:rPr sz="1550" b="0" i="0">
                <a:solidFill>
                  <a:srgbClr val="15201C"/>
                </a:solidFill>
                <a:latin typeface="Hanken Grotesk"/>
              </a:rPr>
              <a:t>One-prompt Cognito-native passkey on returning devices (remembered phone).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5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550" b="1" i="0">
                <a:solidFill>
                  <a:srgbClr val="15201C"/>
                </a:solidFill>
                <a:latin typeface="Hanken Grotesk"/>
              </a:rPr>
              <a:t>Abuse control at the pool boundary. </a:t>
            </a:r>
            <a:r>
              <a:rPr sz="1550" b="0" i="0">
                <a:solidFill>
                  <a:srgbClr val="15201C"/>
                </a:solidFill>
                <a:latin typeface="Hanken Grotesk"/>
              </a:rPr>
              <a:t>WAF rate rules on the unauthenticated Cognito operations + quotas — no app-side velocity tables.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5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550" b="1" i="0">
                <a:solidFill>
                  <a:srgbClr val="15201C"/>
                </a:solidFill>
                <a:latin typeface="Hanken Grotesk"/>
              </a:rPr>
              <a:t>Admin is a separate pool. </a:t>
            </a:r>
            <a:r>
              <a:rPr sz="1550" b="0" i="0">
                <a:solidFill>
                  <a:srgbClr val="15201C"/>
                </a:solidFill>
                <a:latin typeface="Hanken Grotesk"/>
              </a:rPr>
              <a:t>Employees, mandatory TOTP, Managed Login + PKCE — a customer token structurally cannot reach /admin.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 i="0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8F"/>
                </a:solidFill>
                <a:latin typeface="Space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 i="0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5201C"/>
                </a:solidFill>
                <a:latin typeface="Space Grotesk"/>
              </a:rPr>
              <a:t>The viral hot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502920" cy="41148"/>
          </a:xfrm>
          <a:prstGeom prst="rect">
            <a:avLst/>
          </a:prstGeom>
          <a:solidFill>
            <a:srgbClr val="1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1B2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Space Mono"/>
              </a:rPr>
              <a:t>friend taps /p/{id}</a:t>
            </a:r>
            <a:r>
              <a:rPr sz="1300" b="1" i="0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 i="0">
                <a:solidFill>
                  <a:srgbClr val="FFFFFF"/>
                </a:solidFill>
                <a:latin typeface="Space Mono"/>
              </a:rPr>
              <a:t>CloudFront</a:t>
            </a:r>
            <a:r>
              <a:rPr sz="1300" b="1" i="0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 i="0">
                <a:solidFill>
                  <a:srgbClr val="FFFFFF"/>
                </a:solidFill>
                <a:latin typeface="Space Mono"/>
              </a:rPr>
              <a:t>landing (non-VPC)</a:t>
            </a:r>
            <a:r>
              <a:rPr sz="1300" b="1" i="0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 i="0">
                <a:solidFill>
                  <a:srgbClr val="FFFFFF"/>
                </a:solidFill>
                <a:latin typeface="Space Mono"/>
              </a:rPr>
              <a:t>DynamoDB: short id</a:t>
            </a:r>
            <a:r>
              <a:rPr sz="1300" b="1" i="0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 i="0">
                <a:solidFill>
                  <a:srgbClr val="FFFFFF"/>
                </a:solidFill>
                <a:latin typeface="Space Mono"/>
              </a:rPr>
              <a:t>OG landing + review</a:t>
            </a:r>
            <a:r>
              <a:rPr sz="1300" b="1" i="0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 i="0">
                <a:solidFill>
                  <a:srgbClr val="FFFFFF"/>
                </a:solidFill>
                <a:latin typeface="Space Mono"/>
              </a:rPr>
              <a:t>302 to store, custom_parameters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54680"/>
            <a:ext cx="10881360" cy="3154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5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550" b="1" i="0">
                <a:solidFill>
                  <a:srgbClr val="15201C"/>
                </a:solidFill>
                <a:latin typeface="Hanken Grotesk"/>
              </a:rPr>
              <a:t>Rich in WhatsApp. </a:t>
            </a:r>
            <a:r>
              <a:rPr sz="1550" b="0" i="0">
                <a:solidFill>
                  <a:srgbClr val="15201C"/>
                </a:solidFill>
                <a:latin typeface="Hanken Grotesk"/>
              </a:rPr>
              <a:t>Crawlers get server-injected OG tags — every shared link renders as a product card.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5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550" b="1" i="0">
                <a:solidFill>
                  <a:srgbClr val="15201C"/>
                </a:solidFill>
                <a:latin typeface="Hanken Grotesk"/>
              </a:rPr>
              <a:t>Cookieless. </a:t>
            </a:r>
            <a:r>
              <a:rPr sz="1550" b="0" i="0">
                <a:solidFill>
                  <a:srgbClr val="15201C"/>
                </a:solidFill>
                <a:latin typeface="Hanken Grotesk"/>
              </a:rPr>
              <a:t>Attribution rides the URL (custom_parameters), not a cookie (ADR-0008).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5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550" b="1" i="0">
                <a:solidFill>
                  <a:srgbClr val="15201C"/>
                </a:solidFill>
                <a:latin typeface="Hanken Grotesk"/>
              </a:rPr>
              <a:t>Burst-proof. </a:t>
            </a:r>
            <a:r>
              <a:rPr sz="1550" b="0" i="0">
                <a:solidFill>
                  <a:srgbClr val="15201C"/>
                </a:solidFill>
                <a:latin typeface="Hanken Grotesk"/>
              </a:rPr>
              <a:t>Aurora is never on this path — a viral spike cannot touch the money database.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 i="0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8F"/>
                </a:solidFill>
                <a:latin typeface="Space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 i="0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5201C"/>
                </a:solidFill>
                <a:latin typeface="Space Grotesk"/>
              </a:rPr>
              <a:t>Following the money — poll, don't listen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502920" cy="41148"/>
          </a:xfrm>
          <a:prstGeom prst="rect">
            <a:avLst/>
          </a:prstGeom>
          <a:solidFill>
            <a:srgbClr val="1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1B2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FFFFFF"/>
                </a:solidFill>
                <a:latin typeface="Space Mono"/>
              </a:rPr>
              <a:t>heartbeat 15 min</a:t>
            </a:r>
            <a:r>
              <a:rPr sz="1300" b="1" i="0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 i="0">
                <a:solidFill>
                  <a:srgbClr val="FFFFFF"/>
                </a:solidFill>
                <a:latin typeface="Space Mono"/>
              </a:rPr>
              <a:t>retailer-proxy: listOrdersByIndex</a:t>
            </a:r>
            <a:r>
              <a:rPr sz="1300" b="1" i="0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 i="0">
                <a:solidFill>
                  <a:srgbClr val="FFFFFF"/>
                </a:solidFill>
                <a:latin typeface="Space Mono"/>
              </a:rPr>
              <a:t>attribution resolve</a:t>
            </a:r>
            <a:r>
              <a:rPr sz="1300" b="1" i="0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 i="0">
                <a:solidFill>
                  <a:srgbClr val="FFFFFF"/>
                </a:solidFill>
                <a:latin typeface="Space Mono"/>
              </a:rPr>
              <a:t>invoke in-VPC writer</a:t>
            </a:r>
            <a:r>
              <a:rPr sz="1300" b="1" i="0">
                <a:solidFill>
                  <a:srgbClr val="7FE0B0"/>
                </a:solidFill>
                <a:latin typeface="Space Mono"/>
              </a:rPr>
              <a:t> → </a:t>
            </a:r>
            <a:r>
              <a:rPr sz="1300" b="0" i="0">
                <a:solidFill>
                  <a:srgbClr val="FFFFFF"/>
                </a:solidFill>
                <a:latin typeface="Space Mono"/>
              </a:rPr>
              <a:t>append ledger + audit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54680"/>
            <a:ext cx="10881360" cy="3154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5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550" b="1" i="0">
                <a:solidFill>
                  <a:srgbClr val="15201C"/>
                </a:solidFill>
                <a:latin typeface="Hanken Grotesk"/>
              </a:rPr>
              <a:t>Poll, don't listen. </a:t>
            </a:r>
            <a:r>
              <a:rPr sz="1550" b="0" i="0">
                <a:solidFill>
                  <a:srgbClr val="15201C"/>
                </a:solidFill>
                <a:latin typeface="Hanken Grotesk"/>
              </a:rPr>
              <a:t>A scheduled reconciliation poll is auditable and replayable; no inbound webhook to spoof (ADR-0009).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5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550" b="1" i="0">
                <a:solidFill>
                  <a:srgbClr val="15201C"/>
                </a:solidFill>
                <a:latin typeface="Hanken Grotesk"/>
              </a:rPr>
              <a:t>One writer. </a:t>
            </a:r>
            <a:r>
              <a:rPr sz="1550" b="0" i="0">
                <a:solidFill>
                  <a:srgbClr val="15201C"/>
                </a:solidFill>
                <a:latin typeface="Hanken Grotesk"/>
              </a:rPr>
              <a:t>Only poller_writer can INSERT into the ledger; every row is audit-chained.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5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550" b="1" i="0">
                <a:solidFill>
                  <a:srgbClr val="15201C"/>
                </a:solidFill>
                <a:latin typeface="Hanken Grotesk"/>
              </a:rPr>
              <a:t>Unmatched orders </a:t>
            </a:r>
            <a:r>
              <a:rPr sz="1550" b="0" i="0">
                <a:solidFill>
                  <a:srgbClr val="15201C"/>
                </a:solidFill>
                <a:latin typeface="Hanken Grotesk"/>
              </a:rPr>
              <a:t>park in a DynamoDB claim queue; admin claims settle on the next beat.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 i="0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8F"/>
                </a:solidFill>
                <a:latin typeface="Space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 i="0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5201C"/>
                </a:solidFill>
                <a:latin typeface="Space Grotesk"/>
              </a:rPr>
              <a:t>Cost and security posture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502920" cy="41148"/>
          </a:xfrm>
          <a:prstGeom prst="rect">
            <a:avLst/>
          </a:prstGeom>
          <a:solidFill>
            <a:srgbClr val="1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5257800" cy="64008"/>
          </a:xfrm>
          <a:prstGeom prst="rect">
            <a:avLst/>
          </a:prstGeom>
          <a:solidFill>
            <a:srgbClr val="1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38527"/>
            <a:ext cx="5257800" cy="39136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700" b="1" i="0">
                <a:solidFill>
                  <a:srgbClr val="15201C"/>
                </a:solidFill>
                <a:latin typeface="Space Grotesk"/>
              </a:rPr>
              <a:t>Cost</a:t>
            </a:r>
          </a:p>
          <a:p>
            <a:pPr>
              <a:lnSpc>
                <a:spcPct val="112000"/>
              </a:lnSpc>
              <a:spcBef>
                <a:spcPts val="1000"/>
              </a:spcBef>
            </a:pPr>
            <a:r>
              <a:rPr sz="1350" b="1" i="0">
                <a:solidFill>
                  <a:srgbClr val="1F7A57"/>
                </a:solidFill>
                <a:latin typeface="Hanken Grotesk"/>
              </a:rPr>
              <a:t>—  </a:t>
            </a:r>
            <a:r>
              <a:rPr sz="1350" b="0" i="0">
                <a:solidFill>
                  <a:srgbClr val="15201C"/>
                </a:solidFill>
                <a:latin typeface="Hanken Grotesk"/>
              </a:rPr>
              <a:t>Aurora paused = storage only</a:t>
            </a:r>
          </a:p>
          <a:p>
            <a:pPr>
              <a:lnSpc>
                <a:spcPct val="112000"/>
              </a:lnSpc>
              <a:spcBef>
                <a:spcPts val="1000"/>
              </a:spcBef>
            </a:pPr>
            <a:r>
              <a:rPr sz="1350" b="1" i="0">
                <a:solidFill>
                  <a:srgbClr val="1F7A57"/>
                </a:solidFill>
                <a:latin typeface="Hanken Grotesk"/>
              </a:rPr>
              <a:t>—  </a:t>
            </a:r>
            <a:r>
              <a:rPr sz="1350" b="0" i="0">
                <a:solidFill>
                  <a:srgbClr val="15201C"/>
                </a:solidFill>
                <a:latin typeface="Hanken Grotesk"/>
              </a:rPr>
              <a:t>DynamoDB $0 idle</a:t>
            </a:r>
          </a:p>
          <a:p>
            <a:pPr>
              <a:lnSpc>
                <a:spcPct val="112000"/>
              </a:lnSpc>
              <a:spcBef>
                <a:spcPts val="1000"/>
              </a:spcBef>
            </a:pPr>
            <a:r>
              <a:rPr sz="1350" b="1" i="0">
                <a:solidFill>
                  <a:srgbClr val="1F7A57"/>
                </a:solidFill>
                <a:latin typeface="Hanken Grotesk"/>
              </a:rPr>
              <a:t>—  </a:t>
            </a:r>
            <a:r>
              <a:rPr sz="1350" b="0" i="0">
                <a:solidFill>
                  <a:srgbClr val="15201C"/>
                </a:solidFill>
                <a:latin typeface="Hanken Grotesk"/>
              </a:rPr>
              <a:t>No NAT · no RDS Proxy · zero interface endpoints</a:t>
            </a:r>
          </a:p>
          <a:p>
            <a:pPr>
              <a:lnSpc>
                <a:spcPct val="112000"/>
              </a:lnSpc>
              <a:spcBef>
                <a:spcPts val="1000"/>
              </a:spcBef>
            </a:pPr>
            <a:r>
              <a:rPr sz="1350" b="1" i="0">
                <a:solidFill>
                  <a:srgbClr val="1F7A57"/>
                </a:solidFill>
                <a:latin typeface="Hanken Grotesk"/>
              </a:rPr>
              <a:t>—  </a:t>
            </a:r>
            <a:r>
              <a:rPr sz="1350" b="0" i="0">
                <a:solidFill>
                  <a:srgbClr val="15201C"/>
                </a:solidFill>
                <a:latin typeface="Hanken Grotesk"/>
              </a:rPr>
              <a:t>OTP delivery is the dominant line item — and it is hard-capped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874519"/>
            <a:ext cx="5257800" cy="64008"/>
          </a:xfrm>
          <a:prstGeom prst="rect">
            <a:avLst/>
          </a:prstGeom>
          <a:solidFill>
            <a:srgbClr val="B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63640" y="1938527"/>
            <a:ext cx="5257800" cy="39136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700" b="1" i="0">
                <a:solidFill>
                  <a:srgbClr val="15201C"/>
                </a:solidFill>
                <a:latin typeface="Space Grotesk"/>
              </a:rPr>
              <a:t>Security</a:t>
            </a:r>
          </a:p>
          <a:p>
            <a:pPr>
              <a:lnSpc>
                <a:spcPct val="112000"/>
              </a:lnSpc>
              <a:spcBef>
                <a:spcPts val="1000"/>
              </a:spcBef>
            </a:pPr>
            <a:r>
              <a:rPr sz="1350" b="1" i="0">
                <a:solidFill>
                  <a:srgbClr val="B07A1E"/>
                </a:solidFill>
                <a:latin typeface="Hanken Grotesk"/>
              </a:rPr>
              <a:t>—  </a:t>
            </a:r>
            <a:r>
              <a:rPr sz="1350" b="0" i="0">
                <a:solidFill>
                  <a:srgbClr val="15201C"/>
                </a:solidFill>
                <a:latin typeface="Hanken Grotesk"/>
              </a:rPr>
              <a:t>Two WAF layers: CloudFront + the Cognito pool</a:t>
            </a:r>
          </a:p>
          <a:p>
            <a:pPr>
              <a:lnSpc>
                <a:spcPct val="112000"/>
              </a:lnSpc>
              <a:spcBef>
                <a:spcPts val="1000"/>
              </a:spcBef>
            </a:pPr>
            <a:r>
              <a:rPr sz="1350" b="1" i="0">
                <a:solidFill>
                  <a:srgbClr val="B07A1E"/>
                </a:solidFill>
                <a:latin typeface="Hanken Grotesk"/>
              </a:rPr>
              <a:t>—  </a:t>
            </a:r>
            <a:r>
              <a:rPr sz="1350" b="0" i="0">
                <a:solidFill>
                  <a:srgbClr val="15201C"/>
                </a:solidFill>
                <a:latin typeface="Hanken Grotesk"/>
              </a:rPr>
              <a:t>Per-function IAM; money invariants in Postgres GRANTs</a:t>
            </a:r>
          </a:p>
          <a:p>
            <a:pPr>
              <a:lnSpc>
                <a:spcPct val="112000"/>
              </a:lnSpc>
              <a:spcBef>
                <a:spcPts val="1000"/>
              </a:spcBef>
            </a:pPr>
            <a:r>
              <a:rPr sz="1350" b="1" i="0">
                <a:solidFill>
                  <a:srgbClr val="B07A1E"/>
                </a:solidFill>
                <a:latin typeface="Hanken Grotesk"/>
              </a:rPr>
              <a:t>—  </a:t>
            </a:r>
            <a:r>
              <a:rPr sz="1350" b="0" i="0">
                <a:solidFill>
                  <a:srgbClr val="15201C"/>
                </a:solidFill>
                <a:latin typeface="Hanken Grotesk"/>
              </a:rPr>
              <a:t>Retailer credential readable by exactly one function — admin can rotate, never read</a:t>
            </a:r>
          </a:p>
          <a:p>
            <a:pPr>
              <a:lnSpc>
                <a:spcPct val="112000"/>
              </a:lnSpc>
              <a:spcBef>
                <a:spcPts val="1000"/>
              </a:spcBef>
            </a:pPr>
            <a:r>
              <a:rPr sz="1350" b="1" i="0">
                <a:solidFill>
                  <a:srgbClr val="B07A1E"/>
                </a:solidFill>
                <a:latin typeface="Hanken Grotesk"/>
              </a:rPr>
              <a:t>—  </a:t>
            </a:r>
            <a:r>
              <a:rPr sz="1350" b="0" i="0">
                <a:solidFill>
                  <a:srgbClr val="15201C"/>
                </a:solidFill>
                <a:latin typeface="Hanken Grotesk"/>
              </a:rPr>
              <a:t>Customer / admin separated at the pool level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 i="0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8F"/>
                </a:solidFill>
                <a:latin typeface="Space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 i="0">
                <a:solidFill>
                  <a:srgbClr val="1F7A57"/>
                </a:solidFill>
                <a:latin typeface="Space Mono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5201C"/>
                </a:solidFill>
                <a:latin typeface="Space Grotesk"/>
              </a:rPr>
              <a:t>Status and what's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502920" cy="41148"/>
          </a:xfrm>
          <a:prstGeom prst="rect">
            <a:avLst/>
          </a:prstGeom>
          <a:solidFill>
            <a:srgbClr val="1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500"/>
              </a:spcAft>
            </a:pPr>
            <a:r>
              <a:rPr sz="16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650" b="1" i="0">
                <a:solidFill>
                  <a:srgbClr val="15201C"/>
                </a:solidFill>
                <a:latin typeface="Hanken Grotesk"/>
              </a:rPr>
              <a:t>Live in dev + prod: </a:t>
            </a:r>
            <a:r>
              <a:rPr sz="1650" b="0" i="0">
                <a:solidFill>
                  <a:srgbClr val="15201C"/>
                </a:solidFill>
                <a:latin typeface="Hanken Grotesk"/>
              </a:rPr>
              <a:t>create-link, landing /p/, conversion pipeline (15-min heartbeat), wallet, admin console with money KPIs, funnel analytics.</a:t>
            </a:r>
          </a:p>
          <a:p>
            <a:pPr>
              <a:lnSpc>
                <a:spcPct val="115000"/>
              </a:lnSpc>
              <a:spcAft>
                <a:spcPts val="1500"/>
              </a:spcAft>
            </a:pPr>
            <a:r>
              <a:rPr sz="16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650" b="1" i="0">
                <a:solidFill>
                  <a:srgbClr val="15201C"/>
                </a:solidFill>
                <a:latin typeface="Hanken Grotesk"/>
              </a:rPr>
              <a:t>Critical path: </a:t>
            </a:r>
            <a:r>
              <a:rPr sz="1650" b="0" i="0">
                <a:solidFill>
                  <a:srgbClr val="15201C"/>
                </a:solidFill>
                <a:latin typeface="Hanken Grotesk"/>
              </a:rPr>
              <a:t>Meta WhatsApp onboarding (OTP at scale) + AliExpress app approval.</a:t>
            </a:r>
          </a:p>
          <a:p>
            <a:pPr>
              <a:lnSpc>
                <a:spcPct val="115000"/>
              </a:lnSpc>
              <a:spcAft>
                <a:spcPts val="1500"/>
              </a:spcAft>
            </a:pPr>
            <a:r>
              <a:rPr sz="16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650" b="1" i="0">
                <a:solidFill>
                  <a:srgbClr val="15201C"/>
                </a:solidFill>
                <a:latin typeface="Hanken Grotesk"/>
              </a:rPr>
              <a:t>Month-3 gates </a:t>
            </a:r>
            <a:r>
              <a:rPr sz="1650" b="0" i="0">
                <a:solidFill>
                  <a:srgbClr val="15201C"/>
                </a:solidFill>
                <a:latin typeface="Hanken Grotesk"/>
              </a:rPr>
              <a:t>decide Phase 2: group sharing + two-sided rewards.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0292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7A57"/>
                </a:solidFill>
                <a:latin typeface="Space Grotesk"/>
              </a:rPr>
              <a:t>Questions?</a:t>
            </a:r>
            <a:r>
              <a:rPr sz="1300" b="0" i="0">
                <a:solidFill>
                  <a:srgbClr val="8A968F"/>
                </a:solidFill>
                <a:latin typeface="Space Mono"/>
              </a:rPr>
              <a:t>    backup slides: sequence diagrams + the ADR map 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 i="0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8F"/>
                </a:solidFill>
                <a:latin typeface="Space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77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9DB6AB"/>
                </a:solidFill>
                <a:latin typeface="Space Mono"/>
              </a:rPr>
              <a:t>Q&amp;A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FFFFFF"/>
                </a:solidFill>
                <a:latin typeface="Space Grotesk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9DB6AB"/>
                </a:solidFill>
                <a:latin typeface="Hanken Grotesk"/>
              </a:rPr>
              <a:t>Sequence diagrams for the main flows  ·  the ADR map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 i="0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5201C"/>
                </a:solidFill>
                <a:latin typeface="Space Grotesk"/>
              </a:rPr>
              <a:t>Sequence — customer auth, all four 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502920" cy="41148"/>
          </a:xfrm>
          <a:prstGeom prst="rect">
            <a:avLst/>
          </a:prstGeom>
          <a:solidFill>
            <a:srgbClr val="1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083196" y="1618488"/>
            <a:ext cx="8025303" cy="49011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788" y="1783080"/>
            <a:ext cx="7696119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 i="0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8F"/>
                </a:solidFill>
                <a:latin typeface="Space Mono"/>
              </a:rPr>
              <a:t>B1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 i="0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5201C"/>
                </a:solidFill>
                <a:latin typeface="Space Grotesk"/>
              </a:rPr>
              <a:t>Sequence — create a link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502920" cy="41148"/>
          </a:xfrm>
          <a:prstGeom prst="rect">
            <a:avLst/>
          </a:prstGeom>
          <a:solidFill>
            <a:srgbClr val="1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684386" y="1618488"/>
            <a:ext cx="8822921" cy="49011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978" y="1783080"/>
            <a:ext cx="8493737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 i="0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8F"/>
                </a:solidFill>
                <a:latin typeface="Space Mono"/>
              </a:rPr>
              <a:t>B2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 i="0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5201C"/>
                </a:solidFill>
                <a:latin typeface="Space Grotesk"/>
              </a:rPr>
              <a:t>Sequence — click to ledger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502920" cy="41148"/>
          </a:xfrm>
          <a:prstGeom prst="rect">
            <a:avLst/>
          </a:prstGeom>
          <a:solidFill>
            <a:srgbClr val="1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733372" y="1618488"/>
            <a:ext cx="8724950" cy="49011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964" y="1783080"/>
            <a:ext cx="8395766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 i="0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8F"/>
                </a:solidFill>
                <a:latin typeface="Space Mono"/>
              </a:rPr>
              <a:t>B3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 i="0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5201C"/>
                </a:solidFill>
                <a:latin typeface="Space Grotesk"/>
              </a:rPr>
              <a:t>ADR map — locked: supersede, never edit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502920" cy="41148"/>
          </a:xfrm>
          <a:prstGeom prst="rect">
            <a:avLst/>
          </a:prstGeom>
          <a:solidFill>
            <a:srgbClr val="1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828800"/>
            <a:ext cx="3566160" cy="64008"/>
          </a:xfrm>
          <a:prstGeom prst="rect">
            <a:avLst/>
          </a:prstGeom>
          <a:solidFill>
            <a:srgbClr val="1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92807"/>
            <a:ext cx="3566160" cy="41422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350" b="1" i="0">
                <a:solidFill>
                  <a:srgbClr val="15201C"/>
                </a:solidFill>
                <a:latin typeface="Space Grotesk"/>
              </a:rPr>
              <a:t>Architecture · 0001-0009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6B7B73"/>
                </a:solidFill>
                <a:latin typeface="Space Mono"/>
              </a:rPr>
              <a:t>0001  monorepo + Zod contracts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6B7B73"/>
                </a:solidFill>
                <a:latin typeface="Space Mono"/>
              </a:rPr>
              <a:t>0002  compute seams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6B7B73"/>
                </a:solidFill>
                <a:latin typeface="Space Mono"/>
              </a:rPr>
              <a:t>0003  polyglot data, no RDS Proxy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6B7B73"/>
                </a:solidFill>
                <a:latin typeface="Space Mono"/>
              </a:rPr>
              <a:t>0004  NAT-free network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6B7B73"/>
                </a:solidFill>
                <a:latin typeface="Space Mono"/>
              </a:rPr>
              <a:t>0005  single region + backups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6B7B73"/>
                </a:solidFill>
                <a:latin typeface="Space Mono"/>
              </a:rPr>
              <a:t>0006  Cognito-native auth + PII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6B7B73"/>
                </a:solidFill>
                <a:latin typeface="Space Mono"/>
              </a:rPr>
              <a:t>0007  landing path + latency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6B7B73"/>
                </a:solidFill>
                <a:latin typeface="Space Mono"/>
              </a:rPr>
              <a:t>0008  attribution: custom_parameters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6B7B73"/>
                </a:solidFill>
                <a:latin typeface="Space Mono"/>
              </a:rPr>
              <a:t>0009  poller, not webhook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1828800"/>
            <a:ext cx="3566160" cy="64008"/>
          </a:xfrm>
          <a:prstGeom prst="rect">
            <a:avLst/>
          </a:prstGeom>
          <a:solidFill>
            <a:srgbClr val="B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80560" y="1892807"/>
            <a:ext cx="3566160" cy="41422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350" b="1" i="0">
                <a:solidFill>
                  <a:srgbClr val="15201C"/>
                </a:solidFill>
                <a:latin typeface="Space Grotesk"/>
              </a:rPr>
              <a:t>Stack · 0010-0016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6B7B73"/>
                </a:solidFill>
                <a:latin typeface="Space Mono"/>
              </a:rPr>
              <a:t>0010  ESM / Node 24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6B7B73"/>
                </a:solidFill>
                <a:latin typeface="Space Mono"/>
              </a:rPr>
              <a:t>0011  Hono + Powertools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6B7B73"/>
                </a:solidFill>
                <a:latin typeface="Space Mono"/>
              </a:rPr>
              <a:t>0012  Kysely + SQL migrations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6B7B73"/>
                </a:solidFill>
                <a:latin typeface="Space Mono"/>
              </a:rPr>
              <a:t>0013  Vitest + Testcontainers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6B7B73"/>
                </a:solidFill>
                <a:latin typeface="Space Mono"/>
              </a:rPr>
              <a:t>0014  Biome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6B7B73"/>
                </a:solidFill>
                <a:latin typeface="Space Mono"/>
              </a:rPr>
              <a:t>0015  GitHub Actions OIDC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6B7B73"/>
                </a:solidFill>
                <a:latin typeface="Space Mono"/>
              </a:rPr>
              <a:t>0016  Vite SPA</a:t>
            </a:r>
          </a:p>
        </p:txBody>
      </p:sp>
      <p:sp>
        <p:nvSpPr>
          <p:cNvPr id="9" name="Rectangle 8"/>
          <p:cNvSpPr/>
          <p:nvPr/>
        </p:nvSpPr>
        <p:spPr>
          <a:xfrm>
            <a:off x="8275320" y="1828800"/>
            <a:ext cx="3566160" cy="64008"/>
          </a:xfrm>
          <a:prstGeom prst="rect">
            <a:avLst/>
          </a:prstGeom>
          <a:solidFill>
            <a:srgbClr val="6B7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75320" y="1892807"/>
            <a:ext cx="3566160" cy="41422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350" b="1" i="0">
                <a:solidFill>
                  <a:srgbClr val="15201C"/>
                </a:solidFill>
                <a:latin typeface="Space Grotesk"/>
              </a:rPr>
              <a:t>Extensions · 0017-0021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6B7B73"/>
                </a:solidFill>
                <a:latin typeface="Space Mono"/>
              </a:rPr>
              <a:t>0017  currency + FX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6B7B73"/>
                </a:solidFill>
                <a:latin typeface="Space Mono"/>
              </a:rPr>
              <a:t>0018  CloudFront front door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6B7B73"/>
                </a:solidFill>
                <a:latin typeface="Space Mono"/>
              </a:rPr>
              <a:t>0019  WhatsApp messaging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6B7B73"/>
                </a:solidFill>
                <a:latin typeface="Space Mono"/>
              </a:rPr>
              <a:t>0020  sub = canonical id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6B7B73"/>
                </a:solidFill>
                <a:latin typeface="Space Mono"/>
              </a:rPr>
              <a:t>0021  retailer throttling (interim)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 i="0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8F"/>
                </a:solidFill>
                <a:latin typeface="Space Mono"/>
              </a:rPr>
              <a:t>B4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 i="0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5201C"/>
                </a:solidFill>
                <a:latin typeface="Space Grotesk"/>
              </a:rPr>
              <a:t>ADR-0002 + 0004 — compute seams and the NAT-free bet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502920" cy="41148"/>
          </a:xfrm>
          <a:prstGeom prst="rect">
            <a:avLst/>
          </a:prstGeom>
          <a:solidFill>
            <a:srgbClr val="1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04217" y="1618488"/>
            <a:ext cx="6583260" cy="43525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809" y="1783080"/>
            <a:ext cx="6254076" cy="40233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 i="0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8F"/>
                </a:solidFill>
                <a:latin typeface="Space Mono"/>
              </a:rPr>
              <a:t>B5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 i="0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5201C"/>
                </a:solidFill>
                <a:latin typeface="Space Grotesk"/>
              </a:rPr>
              <a:t>ADR-0003 + 0027 — where data lives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502920" cy="41148"/>
          </a:xfrm>
          <a:prstGeom prst="rect">
            <a:avLst/>
          </a:prstGeom>
          <a:solidFill>
            <a:srgbClr val="1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959367" y="1618488"/>
            <a:ext cx="8272959" cy="2980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959" y="1783080"/>
            <a:ext cx="7943775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709160"/>
            <a:ext cx="10881360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250" b="0" i="0">
                <a:solidFill>
                  <a:srgbClr val="15201C"/>
                </a:solidFill>
                <a:latin typeface="Hanken Grotesk"/>
              </a:rPr>
              <a:t>The customer table was dropped when PII moved to Cognito (migration 0006_money_only) — the ledger is keyed by the Cognito sub directly.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250" b="0" i="0">
                <a:solidFill>
                  <a:srgbClr val="15201C"/>
                </a:solidFill>
                <a:latin typeface="Hanken Grotesk"/>
              </a:rPr>
              <a:t>Admin user search runs on ListUsers (one-attribute filters); fine at MVP scale — dual-write projection is the escape hatch.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250" b="0" i="0">
                <a:solidFill>
                  <a:srgbClr val="15201C"/>
                </a:solidFill>
                <a:latin typeface="Hanken Grotesk"/>
              </a:rPr>
              <a:t>Trade-offs accepted: no SQL over PII, no PITR for the user pool, attribute changes have no built-in history.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 i="0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8F"/>
                </a:solidFill>
                <a:latin typeface="Space Mono"/>
              </a:rPr>
              <a:t>B6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 i="0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5201C"/>
                </a:solidFill>
                <a:latin typeface="Space Grotesk"/>
              </a:rPr>
              <a:t>ADR-0008 + 0009 — attribution and polling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502920" cy="41148"/>
          </a:xfrm>
          <a:prstGeom prst="rect">
            <a:avLst/>
          </a:prstGeom>
          <a:solidFill>
            <a:srgbClr val="1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550" b="1" i="0">
                <a:solidFill>
                  <a:srgbClr val="15201C"/>
                </a:solidFill>
                <a:latin typeface="Hanken Grotesk"/>
              </a:rPr>
              <a:t>Attribution </a:t>
            </a:r>
            <a:r>
              <a:rPr sz="1550" b="0" i="0">
                <a:solidFill>
                  <a:srgbClr val="15201C"/>
                </a:solidFill>
                <a:latin typeface="Hanken Grotesk"/>
              </a:rPr>
              <a:t>rides custom_parameters on the retailer redirect — no click-log lookup, no cookies; the 3-day window is the retailer's, not ours.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550" b="1" i="0">
                <a:solidFill>
                  <a:srgbClr val="15201C"/>
                </a:solidFill>
                <a:latin typeface="Hanken Grotesk"/>
              </a:rPr>
              <a:t>Conversion </a:t>
            </a:r>
            <a:r>
              <a:rPr sz="1550" b="0" i="0">
                <a:solidFill>
                  <a:srgbClr val="15201C"/>
                </a:solidFill>
                <a:latin typeface="Hanken Grotesk"/>
              </a:rPr>
              <a:t>via scheduled listOrdersByIndex reconciliation: idempotent by the ledger's unique (order_id, kind, status) index; replayable from the cursor in poller_state; nothing to spoof.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550" b="1" i="0">
                <a:solidFill>
                  <a:srgbClr val="15201C"/>
                </a:solidFill>
                <a:latin typeface="Hanken Grotesk"/>
              </a:rPr>
              <a:t>Unmatched orders </a:t>
            </a:r>
            <a:r>
              <a:rPr sz="1550" b="0" i="0">
                <a:solidFill>
                  <a:srgbClr val="15201C"/>
                </a:solidFill>
                <a:latin typeface="Hanken Grotesk"/>
              </a:rPr>
              <a:t>park in unattributed_order — an admin claim queue settled on the next heartbeat.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 i="0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8F"/>
                </a:solidFill>
                <a:latin typeface="Space Mono"/>
              </a:rPr>
              <a:t>B7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 i="0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5201C"/>
                </a:solidFill>
                <a:latin typeface="Space Grotesk"/>
              </a:rPr>
              <a:t>ADR-0017 — currency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502920" cy="41148"/>
          </a:xfrm>
          <a:prstGeom prst="rect">
            <a:avLst/>
          </a:prstGeom>
          <a:solidFill>
            <a:srgbClr val="1F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550" b="1" i="0">
                <a:solidFill>
                  <a:srgbClr val="15201C"/>
                </a:solidFill>
                <a:latin typeface="Hanken Grotesk"/>
              </a:rPr>
              <a:t>Hold the settlement currency. </a:t>
            </a:r>
            <a:r>
              <a:rPr sz="1550" b="0" i="0">
                <a:solidFill>
                  <a:srgbClr val="15201C"/>
                </a:solidFill>
                <a:latin typeface="Hanken Grotesk"/>
              </a:rPr>
              <a:t>Cashback is stored in what AliExpress actually pays — the wallet shows real per-currency holdings.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550" b="1" i="0">
                <a:solidFill>
                  <a:srgbClr val="15201C"/>
                </a:solidFill>
                <a:latin typeface="Hanken Grotesk"/>
              </a:rPr>
              <a:t>ILS is a display estimate. </a:t>
            </a:r>
            <a:r>
              <a:rPr sz="1550" b="0" i="0">
                <a:solidFill>
                  <a:srgbClr val="15201C"/>
                </a:solidFill>
                <a:latin typeface="Hanken Grotesk"/>
              </a:rPr>
              <a:t>The headline (~₪142.50, "Estimated" chip) comes from the fx_rate cache — Bank of Israel rate, refreshed every 12 h.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50" b="1" i="0">
                <a:solidFill>
                  <a:srgbClr val="1F7A57"/>
                </a:solidFill>
                <a:latin typeface="Space Grotesk"/>
              </a:rPr>
              <a:t>—  </a:t>
            </a:r>
            <a:r>
              <a:rPr sz="1550" b="1" i="0">
                <a:solidFill>
                  <a:srgbClr val="15201C"/>
                </a:solidFill>
                <a:latin typeface="Hanken Grotesk"/>
              </a:rPr>
              <a:t>Convert once, at withdrawal. </a:t>
            </a:r>
            <a:r>
              <a:rPr sz="1550" b="0" i="0">
                <a:solidFill>
                  <a:srgbClr val="15201C"/>
                </a:solidFill>
                <a:latin typeface="Hanken Grotesk"/>
              </a:rPr>
              <a:t>No FX risk carried on displayed balances.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 i="0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A968F"/>
                </a:solidFill>
                <a:latin typeface="Space Mono"/>
              </a:rPr>
              <a:t>B8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