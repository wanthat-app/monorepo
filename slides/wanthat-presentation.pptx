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Wanthat turns the product links people already send to friends into cashback — I'll show the product in two minutes, then spend the rest on how it's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Word-of-mouth drives 20-50% of purchases and nobody pays for it. We are not building an influencer platform — the persona is a regular person in four family WhatsApp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gates decide Phase 2 (group sharing, two-sided rewards) and a pre-seed raise.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loop is two taps for the member; the friend's landing carries the personal review, which is the trust mechanic. Screens are the design-handoff mocks.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"Estimated" chip — cashback is held in the settlement currency and the ILS headline is a display estimate (ADR-0017); conversion happens at withdrawal.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drove every decision that follows; when two conflicted, cost and money-safety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(1) no auth service — the browser talks to Cognito directly; OTP rides a custom sender, WhatsApp-default, kill-switched. (2) Member APIs split into non-VPC app-links and in-VPC app-core — only what touches money enters the VPC. (3) The friend's click never leaves DynamoDB. (4) Money enters only through the scheduled pipeline: retailer-proxy fetches, the in-VPC writer appends. Full per-table version in docs/AWS_Architecture.md.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not one Postgres for everything: the redirect hot path must absorb viral spikes at zero idle cost, and the auth path must not depend on a relational database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sequence diagram in backup B1. The C-&gt;B migration was possible pre-release: one dev user deleted, no migration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il-central-1 gaps shaped this too: no RDS Data API (killed the no-VPC data path), no Lambda Function URLs (landing sits behind an HTTP API).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 in backup B3. Unmatched orders are not dropped: they park in unattributed_order and an admin claim settles on the next heartbeat.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il-central-1 approximations; the point is the shape: a ~$20 measured floor, then linear with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is documented in an ADR or the architecture doc - none of these are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Registration IS SignUp; OTP and passkey logins; the only Aurora touch is the wallet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Cache-first product resolve; on miss the proxy calls AliExpress; both writes are same-table transactions with their counter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Impression, click, purchase, 15-min poll, attribution resolve, append-only ledger + audit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what touches Aurora enters the VPC; in-VPC functions cannot call out — the conversion chain is always proxy → writer; a NAT Gateway would be the single biggest fixed cost in the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F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B6AB"/>
                </a:solidFill>
                <a:latin typeface="Space Mono"/>
              </a:rPr>
              <a:t>ISRAEL MVP  ·  AWS SERVERLESS  ·  IL-CENTRAL-1 (TEL AVIV)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Space Grotesk"/>
              </a:rPr>
              <a:t>want</a:t>
            </a:r>
            <a:r>
              <a:rPr sz="7200" b="1">
                <a:solidFill>
                  <a:srgbClr val="7FE0B0"/>
                </a:solidFill>
                <a:latin typeface="Space Grotesk"/>
              </a:rPr>
              <a:t>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BFD3CB"/>
                </a:solidFill>
                <a:latin typeface="Space Grotesk"/>
              </a:rPr>
              <a:t>Earn cashback by sharing what you love.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DB6AB"/>
                </a:solidFill>
                <a:latin typeface="Hanken Grotesk"/>
              </a:rPr>
              <a:t>Product &amp; architecture overview — 20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07492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B2924"/>
          </a:solidFill>
          <a:ln w="12700">
            <a:solidFill>
              <a:srgbClr val="2E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050" b="0">
                <a:solidFill>
                  <a:srgbClr val="9DB6AB"/>
                </a:solidFill>
                <a:latin typeface="Space Mono"/>
              </a:rPr>
              <a:t>1 · the business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9464" y="5074920"/>
            <a:ext cx="1458468" cy="384048"/>
          </a:xfrm>
          <a:prstGeom prst="roundRect">
            <a:avLst>
              <a:gd name="adj" fmla="val 50000"/>
            </a:avLst>
          </a:prstGeom>
          <a:solidFill>
            <a:srgbClr val="1B2924"/>
          </a:solidFill>
          <a:ln w="12700">
            <a:solidFill>
              <a:srgbClr val="2E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050" b="0">
                <a:solidFill>
                  <a:srgbClr val="9DB6AB"/>
                </a:solidFill>
                <a:latin typeface="Space Mono"/>
              </a:rPr>
              <a:t>2 · the 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2524" y="5074920"/>
            <a:ext cx="1847088" cy="384048"/>
          </a:xfrm>
          <a:prstGeom prst="roundRect">
            <a:avLst>
              <a:gd name="adj" fmla="val 50000"/>
            </a:avLst>
          </a:prstGeom>
          <a:solidFill>
            <a:srgbClr val="1B2924"/>
          </a:solidFill>
          <a:ln w="12700">
            <a:solidFill>
              <a:srgbClr val="2E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050" b="0">
                <a:solidFill>
                  <a:srgbClr val="9DB6AB"/>
                </a:solidFill>
                <a:latin typeface="Space Mono"/>
              </a:rPr>
              <a:t>3 · the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4204" y="5074920"/>
            <a:ext cx="1769364" cy="384048"/>
          </a:xfrm>
          <a:prstGeom prst="roundRect">
            <a:avLst>
              <a:gd name="adj" fmla="val 50000"/>
            </a:avLst>
          </a:prstGeom>
          <a:solidFill>
            <a:srgbClr val="1B2924"/>
          </a:solidFill>
          <a:ln w="12700">
            <a:solidFill>
              <a:srgbClr val="2E4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050" b="0">
                <a:solidFill>
                  <a:srgbClr val="9DB6AB"/>
                </a:solidFill>
                <a:latin typeface="Space Mono"/>
              </a:rPr>
              <a:t>backup · deep dives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5201C"/>
                </a:solidFill>
                <a:latin typeface="Space Grotesk"/>
              </a:rPr>
              <a:t>Every everyday shopper becomes an affiliate —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8A968F"/>
                </a:solidFill>
                <a:latin typeface="Space Mono"/>
              </a:rPr>
              <a:t>THE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56816"/>
            <a:ext cx="534924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3969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8" name="Picture 7" descr="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48" y="2206264"/>
            <a:ext cx="342351" cy="3423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2184" y="2176272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201C"/>
                </a:solidFill>
                <a:latin typeface="Space Grotesk"/>
              </a:rPr>
              <a:t>Shoppers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61488"/>
            <a:ext cx="494690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sz="1150" b="0">
                <a:solidFill>
                  <a:srgbClr val="6B7B73"/>
                </a:solidFill>
                <a:latin typeface="Hanken Grotesk"/>
              </a:rPr>
              <a:t>share product links every day — "where did you get that?" — and earn nothing for the purchases they drive.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19856"/>
            <a:ext cx="534924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60273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3" name="Picture 12" descr="cardp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3669304"/>
            <a:ext cx="342351" cy="3423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72184" y="3639312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201C"/>
                </a:solidFill>
                <a:latin typeface="Space Grotesk"/>
              </a:rPr>
              <a:t>Cashback platforms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224528"/>
            <a:ext cx="494690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sz="1150" b="0">
                <a:solidFill>
                  <a:srgbClr val="6B7B73"/>
                </a:solidFill>
                <a:latin typeface="Hanken Grotesk"/>
              </a:rPr>
              <a:t>reward passive shopping through their own portal; the social recommendation goes unpaid and unmeasured.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82896"/>
            <a:ext cx="534924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506577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8" name="Picture 17" descr="broad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8" y="5132344"/>
            <a:ext cx="342351" cy="3423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72184" y="5102352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201C"/>
                </a:solidFill>
                <a:latin typeface="Space Grotesk"/>
              </a:rPr>
              <a:t>Brands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687568"/>
            <a:ext cx="494690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sz="1150" b="0">
                <a:solidFill>
                  <a:srgbClr val="6B7B73"/>
                </a:solidFill>
                <a:latin typeface="Hanken Grotesk"/>
              </a:rPr>
              <a:t>keep growing influencer budgets while organic word-of-mouth — which converts better — stays invisible.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F7A57"/>
                </a:solidFill>
                <a:latin typeface="Space Mono"/>
              </a:rPr>
              <a:t>THE PRODUCT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956816"/>
            <a:ext cx="5074920" cy="4114800"/>
          </a:xfrm>
          <a:prstGeom prst="roundRect">
            <a:avLst>
              <a:gd name="adj" fmla="val 55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56832" y="215798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24" name="Picture 23" descr="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400" y="2224552"/>
            <a:ext cx="342351" cy="34235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75120" y="2788920"/>
            <a:ext cx="4617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5201C"/>
                </a:solidFill>
                <a:latin typeface="Hanken Grotesk"/>
              </a:rPr>
              <a:t>Wanthat turns the link you already send into a tracked affiliate link. </a:t>
            </a:r>
            <a:r>
              <a:rPr sz="1500" b="0">
                <a:solidFill>
                  <a:srgbClr val="15201C"/>
                </a:solidFill>
                <a:latin typeface="Hanken Grotesk"/>
              </a:rPr>
              <a:t>Wanthat is the single registered affiliate across AliExpress / Awin / eBay — when a friend buys, the commission flows in and the majority is credited back to the recommender as cashback.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1F7A57"/>
                </a:solidFill>
                <a:latin typeface="Space Grotesk"/>
              </a:rPr>
              <a:t>It monetizes a behavior that already exists — without changing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201C"/>
                </a:solidFill>
                <a:latin typeface="Space Grotesk"/>
              </a:rPr>
              <a:t>Why Israel, why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93592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2735" y="20299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7" name="Picture 6" descr="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304" y="2096536"/>
            <a:ext cx="342351" cy="3423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" y="1975104"/>
            <a:ext cx="2679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7A57"/>
                </a:solidFill>
                <a:latin typeface="Space Grotesk"/>
              </a:rPr>
              <a:t>66%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97480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6B7B73"/>
                </a:solidFill>
                <a:latin typeface="Hanken Grotesk"/>
              </a:rPr>
              <a:t>of Israeli online orders are AliExpress — the MVP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593592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97496" y="20299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2" name="Picture 11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064" y="2096536"/>
            <a:ext cx="342351" cy="3423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81728" y="1975104"/>
            <a:ext cx="2679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7A57"/>
                </a:solidFill>
                <a:latin typeface="Space Grotesk"/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697480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6B7B73"/>
                </a:solidFill>
                <a:latin typeface="Hanken Grotesk"/>
              </a:rPr>
              <a:t>WhatsApp penetration among the highest globally — group sharing is a daily habit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828800"/>
            <a:ext cx="3593592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92256" y="20299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7" name="Picture 16" descr="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8824" y="2096536"/>
            <a:ext cx="342351" cy="3423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76488" y="1975104"/>
            <a:ext cx="2679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7A57"/>
                </a:solidFill>
                <a:latin typeface="Space Grotesk"/>
              </a:rPr>
              <a:t>$17B+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697480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6B7B73"/>
                </a:solidFill>
                <a:latin typeface="Hanken Grotesk"/>
              </a:rPr>
              <a:t>global affiliate market — a proven commercial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05072"/>
            <a:ext cx="3593592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02735" y="420624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22" name="Picture 21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304" y="4272808"/>
            <a:ext cx="342351" cy="3423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6968" y="4151376"/>
            <a:ext cx="2679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7A57"/>
                </a:solidFill>
                <a:latin typeface="Space Grotesk"/>
              </a:rPr>
              <a:t>3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873752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6B7B73"/>
                </a:solidFill>
                <a:latin typeface="Hanken Grotesk"/>
              </a:rPr>
              <a:t>AliExpress attribution window — sharing must be instant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4005072"/>
            <a:ext cx="3593592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97496" y="420624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27" name="Picture 26" descr="ba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4064" y="4272808"/>
            <a:ext cx="342351" cy="34235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81728" y="4151376"/>
            <a:ext cx="2679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7A57"/>
                </a:solidFill>
                <a:latin typeface="Space Grotesk"/>
              </a:rPr>
              <a:t>₪50+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4873752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6B7B73"/>
                </a:solidFill>
                <a:latin typeface="Hanken Grotesk"/>
              </a:rPr>
              <a:t>payout via bank / card / Bit / PayBox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4005072"/>
            <a:ext cx="3593592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192256" y="420624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32" name="Picture 31" descr="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58824" y="4272808"/>
            <a:ext cx="342351" cy="34235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76488" y="4151376"/>
            <a:ext cx="2679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7A57"/>
                </a:solidFill>
                <a:latin typeface="Space Grotesk"/>
              </a:rPr>
              <a:t>Month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4873752"/>
            <a:ext cx="3191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6B7B73"/>
                </a:solidFill>
                <a:latin typeface="Hanken Grotesk"/>
              </a:rPr>
              <a:t>gates: 500 active sharers · &gt;20% CTR · &gt;6% conversion · &gt;50% 30-day return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201C"/>
                </a:solidFill>
                <a:latin typeface="Space Grotesk"/>
              </a:rPr>
              <a:t>How it works — share a 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" y="1700784"/>
            <a:ext cx="210880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" bIns="9144"/>
          <a:lstStyle/>
          <a:p>
            <a:pPr algn="ctr"/>
            <a:r>
              <a:rPr sz="950" b="0">
                <a:solidFill>
                  <a:srgbClr val="6B7B73"/>
                </a:solidFill>
                <a:latin typeface="Space Mono"/>
              </a:rPr>
              <a:t>wanthat.app/create</a:t>
            </a:r>
          </a:p>
        </p:txBody>
      </p:sp>
      <p:pic>
        <p:nvPicPr>
          <p:cNvPr id="6" name="Picture 5" descr="flow-1-create-li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1880205" cy="3246120"/>
          </a:xfrm>
          <a:prstGeom prst="rect">
            <a:avLst/>
          </a:prstGeom>
          <a:ln w="15240">
            <a:solidFill>
              <a:srgbClr val="D2E3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74320" y="5440679"/>
            <a:ext cx="224596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F7A57"/>
                </a:solidFill>
                <a:latin typeface="Space Grotesk"/>
              </a:rPr>
              <a:t>1</a:t>
            </a:r>
            <a:r>
              <a:rPr sz="1100" b="0">
                <a:solidFill>
                  <a:srgbClr val="6B7B73"/>
                </a:solidFill>
                <a:latin typeface="Hanken Grotesk"/>
              </a:rPr>
              <a:t>  Member pastes a product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2541" y="3497579"/>
            <a:ext cx="5970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7A57"/>
                </a:solidFill>
                <a:latin typeface="Hanken Grotesk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2172" y="1700784"/>
            <a:ext cx="210880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" bIns="9144"/>
          <a:lstStyle/>
          <a:p>
            <a:pPr algn="ctr"/>
            <a:r>
              <a:rPr sz="950" b="0">
                <a:solidFill>
                  <a:srgbClr val="6B7B73"/>
                </a:solidFill>
                <a:latin typeface="Space Mono"/>
              </a:rPr>
              <a:t>wanthat.app/create</a:t>
            </a:r>
          </a:p>
        </p:txBody>
      </p:sp>
      <p:pic>
        <p:nvPicPr>
          <p:cNvPr id="10" name="Picture 9" descr="flow-2-link-read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472" y="2103120"/>
            <a:ext cx="1880205" cy="3246120"/>
          </a:xfrm>
          <a:prstGeom prst="rect">
            <a:avLst/>
          </a:prstGeom>
          <a:ln w="15240">
            <a:solidFill>
              <a:srgbClr val="D2E3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623592" y="5440679"/>
            <a:ext cx="224596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F7A57"/>
                </a:solidFill>
                <a:latin typeface="Space Grotesk"/>
              </a:rPr>
              <a:t>2</a:t>
            </a:r>
            <a:r>
              <a:rPr sz="1100" b="0">
                <a:solidFill>
                  <a:srgbClr val="6B7B73"/>
                </a:solidFill>
                <a:latin typeface="Hanken Grotesk"/>
              </a:rPr>
              <a:t>  Link ready — cashback split shown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1814" y="3497579"/>
            <a:ext cx="5970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7A57"/>
                </a:solidFill>
                <a:latin typeface="Hanken Grotes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1444" y="1700784"/>
            <a:ext cx="210880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" bIns="9144"/>
          <a:lstStyle/>
          <a:p>
            <a:pPr algn="ctr"/>
            <a:r>
              <a:rPr sz="950" b="0">
                <a:solidFill>
                  <a:srgbClr val="6B7B73"/>
                </a:solidFill>
                <a:latin typeface="Space Mono"/>
              </a:rPr>
              <a:t>WhatsApp — off-platform</a:t>
            </a:r>
          </a:p>
        </p:txBody>
      </p:sp>
      <p:pic>
        <p:nvPicPr>
          <p:cNvPr id="14" name="Picture 13" descr="flow-3-whatsapp-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5744" y="2103120"/>
            <a:ext cx="1880205" cy="3246120"/>
          </a:xfrm>
          <a:prstGeom prst="rect">
            <a:avLst/>
          </a:prstGeom>
          <a:ln w="15240">
            <a:solidFill>
              <a:srgbClr val="D2E3D9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972864" y="5440679"/>
            <a:ext cx="224596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F7A57"/>
                </a:solidFill>
                <a:latin typeface="Space Grotesk"/>
              </a:rPr>
              <a:t>3</a:t>
            </a:r>
            <a:r>
              <a:rPr sz="1100" b="0">
                <a:solidFill>
                  <a:srgbClr val="6B7B73"/>
                </a:solidFill>
                <a:latin typeface="Hanken Grotesk"/>
              </a:rPr>
              <a:t>  Shared — disclosure included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1086" y="3497579"/>
            <a:ext cx="5970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7A57"/>
                </a:solidFill>
                <a:latin typeface="Hanken Grotesk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0717" y="1700784"/>
            <a:ext cx="210880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" bIns="9144"/>
          <a:lstStyle/>
          <a:p>
            <a:pPr algn="ctr"/>
            <a:r>
              <a:rPr sz="950" b="0">
                <a:solidFill>
                  <a:srgbClr val="6B7B73"/>
                </a:solidFill>
                <a:latin typeface="Space Mono"/>
              </a:rPr>
              <a:t>wanthat.app/p/Mx7Qa</a:t>
            </a:r>
          </a:p>
        </p:txBody>
      </p:sp>
      <p:pic>
        <p:nvPicPr>
          <p:cNvPr id="18" name="Picture 17" descr="flow-4-friend-land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017" y="2103120"/>
            <a:ext cx="1880205" cy="3246120"/>
          </a:xfrm>
          <a:prstGeom prst="rect">
            <a:avLst/>
          </a:prstGeom>
          <a:ln w="15240">
            <a:solidFill>
              <a:srgbClr val="D2E3D9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7322137" y="5440679"/>
            <a:ext cx="224596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F7A57"/>
                </a:solidFill>
                <a:latin typeface="Space Grotesk"/>
              </a:rPr>
              <a:t>4</a:t>
            </a:r>
            <a:r>
              <a:rPr sz="1100" b="0">
                <a:solidFill>
                  <a:srgbClr val="6B7B73"/>
                </a:solidFill>
                <a:latin typeface="Hanken Grotesk"/>
              </a:rPr>
              <a:t>  Friend opens the branded landing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0358" y="3497579"/>
            <a:ext cx="5970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7A57"/>
                </a:solidFill>
                <a:latin typeface="Hanken Grotesk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9989" y="1700784"/>
            <a:ext cx="210880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" bIns="9144"/>
          <a:lstStyle/>
          <a:p>
            <a:pPr algn="ctr"/>
            <a:r>
              <a:rPr sz="950" b="0">
                <a:solidFill>
                  <a:srgbClr val="6B7B73"/>
                </a:solidFill>
                <a:latin typeface="Space Mono"/>
              </a:rPr>
              <a:t>→ aliexpress.com</a:t>
            </a:r>
          </a:p>
        </p:txBody>
      </p:sp>
      <p:pic>
        <p:nvPicPr>
          <p:cNvPr id="22" name="Picture 21" descr="flow-5-redirect-stor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4289" y="2103120"/>
            <a:ext cx="1880205" cy="3246120"/>
          </a:xfrm>
          <a:prstGeom prst="rect">
            <a:avLst/>
          </a:prstGeom>
          <a:ln w="15240">
            <a:solidFill>
              <a:srgbClr val="D2E3D9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9671409" y="5440679"/>
            <a:ext cx="224596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F7A57"/>
                </a:solidFill>
                <a:latin typeface="Space Grotesk"/>
              </a:rPr>
              <a:t>5</a:t>
            </a:r>
            <a:r>
              <a:rPr sz="1100" b="0">
                <a:solidFill>
                  <a:srgbClr val="6B7B73"/>
                </a:solidFill>
                <a:latin typeface="Hanken Grotesk"/>
              </a:rPr>
              <a:t>  Sent to the store — attributed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201C"/>
                </a:solidFill>
                <a:latin typeface="Space Grotesk"/>
              </a:rPr>
              <a:t>How it works — the cashback comes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" y="1700784"/>
            <a:ext cx="232065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" bIns="9144"/>
          <a:lstStyle/>
          <a:p>
            <a:pPr algn="ctr"/>
            <a:r>
              <a:rPr sz="950" b="0">
                <a:solidFill>
                  <a:srgbClr val="6B7B73"/>
                </a:solidFill>
                <a:latin typeface="Space Mono"/>
              </a:rPr>
              <a:t>wanthat.app/activity</a:t>
            </a:r>
          </a:p>
        </p:txBody>
      </p:sp>
      <p:pic>
        <p:nvPicPr>
          <p:cNvPr id="6" name="Picture 5" descr="earn-1-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2092059" cy="3611880"/>
          </a:xfrm>
          <a:prstGeom prst="rect">
            <a:avLst/>
          </a:prstGeom>
          <a:ln w="15240">
            <a:solidFill>
              <a:srgbClr val="D2E3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74320" y="5806440"/>
            <a:ext cx="24578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F7A57"/>
                </a:solidFill>
                <a:latin typeface="Space Grotesk"/>
              </a:rPr>
              <a:t>1</a:t>
            </a:r>
            <a:r>
              <a:rPr sz="1100" b="0">
                <a:solidFill>
                  <a:srgbClr val="6B7B73"/>
                </a:solidFill>
                <a:latin typeface="Hanken Grotesk"/>
              </a:rPr>
              <a:t>  Conversion tracked — pending until the store confirms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4395" y="3680460"/>
            <a:ext cx="26285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7A57"/>
                </a:solidFill>
                <a:latin typeface="Hanken Grotesk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5517" y="1700784"/>
            <a:ext cx="232065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" bIns="9144"/>
          <a:lstStyle/>
          <a:p>
            <a:pPr algn="ctr"/>
            <a:r>
              <a:rPr sz="950" b="0">
                <a:solidFill>
                  <a:srgbClr val="6B7B73"/>
                </a:solidFill>
                <a:latin typeface="Space Mono"/>
              </a:rPr>
              <a:t>wanthat.app/home</a:t>
            </a:r>
          </a:p>
        </p:txBody>
      </p:sp>
      <p:pic>
        <p:nvPicPr>
          <p:cNvPr id="10" name="Picture 9" descr="earn-2-wallet-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817" y="2103120"/>
            <a:ext cx="2092059" cy="3611880"/>
          </a:xfrm>
          <a:prstGeom prst="rect">
            <a:avLst/>
          </a:prstGeom>
          <a:ln w="15240">
            <a:solidFill>
              <a:srgbClr val="D2E3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866937" y="5806440"/>
            <a:ext cx="24578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F7A57"/>
                </a:solidFill>
                <a:latin typeface="Space Grotesk"/>
              </a:rPr>
              <a:t>2</a:t>
            </a:r>
            <a:r>
              <a:rPr sz="1100" b="0">
                <a:solidFill>
                  <a:srgbClr val="6B7B73"/>
                </a:solidFill>
                <a:latin typeface="Hanken Grotesk"/>
              </a:rPr>
              <a:t>  Wallet credited — estimated ILS over real currencies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7013" y="3680460"/>
            <a:ext cx="26285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7A57"/>
                </a:solidFill>
                <a:latin typeface="Hanken Grotes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8135" y="1700784"/>
            <a:ext cx="232065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" bIns="9144"/>
          <a:lstStyle/>
          <a:p>
            <a:pPr algn="ctr"/>
            <a:r>
              <a:rPr sz="950" b="0">
                <a:solidFill>
                  <a:srgbClr val="6B7B73"/>
                </a:solidFill>
                <a:latin typeface="Space Mono"/>
              </a:rPr>
              <a:t>wanthat.app/withdraw</a:t>
            </a:r>
          </a:p>
        </p:txBody>
      </p:sp>
      <p:pic>
        <p:nvPicPr>
          <p:cNvPr id="14" name="Picture 13" descr="earn-3-withdra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435" y="2103120"/>
            <a:ext cx="2092059" cy="3611880"/>
          </a:xfrm>
          <a:prstGeom prst="rect">
            <a:avLst/>
          </a:prstGeom>
          <a:ln w="15240">
            <a:solidFill>
              <a:srgbClr val="D2E3D9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9459555" y="5806440"/>
            <a:ext cx="24578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F7A57"/>
                </a:solidFill>
                <a:latin typeface="Space Grotesk"/>
              </a:rPr>
              <a:t>3</a:t>
            </a:r>
            <a:r>
              <a:rPr sz="1100" b="0">
                <a:solidFill>
                  <a:srgbClr val="6B7B73"/>
                </a:solidFill>
                <a:latin typeface="Hanken Grotesk"/>
              </a:rPr>
              <a:t>  Withdraw from ₪50 — bank, card, Bit or PayBox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201C"/>
                </a:solidFill>
                <a:latin typeface="Space Grotesk"/>
              </a:rPr>
              <a:t>Engineering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2157984" cy="3794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07568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7" name="Picture 6" descr="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816" y="2142256"/>
            <a:ext cx="342351" cy="3423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7" y="2697480"/>
            <a:ext cx="17922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 b="1">
                <a:solidFill>
                  <a:srgbClr val="15201C"/>
                </a:solidFill>
                <a:latin typeface="Space Grotesk"/>
              </a:rPr>
              <a:t>Monorepo, schema-first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520440"/>
            <a:ext cx="17922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B73"/>
                </a:solidFill>
                <a:latin typeface="Hanken Grotesk"/>
              </a:rPr>
              <a:t>pnpm + Turborepo, TypeScript everywhere (Node 24, arm64). Zod contracts: inferred types + runtime validation at every boundary.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2656" y="1874519"/>
            <a:ext cx="2157984" cy="3794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45536" y="207568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2" name="Picture 11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104" y="2142256"/>
            <a:ext cx="342351" cy="3423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45536" y="2697480"/>
            <a:ext cx="17922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 b="1">
                <a:solidFill>
                  <a:srgbClr val="15201C"/>
                </a:solidFill>
                <a:latin typeface="Space Grotesk"/>
              </a:rPr>
              <a:t>Everything as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3520440"/>
            <a:ext cx="17922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B73"/>
                </a:solidFill>
                <a:latin typeface="Hanken Grotesk"/>
              </a:rPr>
              <a:t>AWS CDK v2; per-env stacks; zero console changes. PRs run CI + cdk diff; merge deploys dev; SQL migrations run in-deploy.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874519"/>
            <a:ext cx="2157984" cy="3794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49824" y="207568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7" name="Picture 16" descr="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392" y="2142256"/>
            <a:ext cx="342351" cy="3423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49824" y="2697480"/>
            <a:ext cx="17922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 b="1">
                <a:solidFill>
                  <a:srgbClr val="15201C"/>
                </a:solidFill>
                <a:latin typeface="Space Grotesk"/>
              </a:rPr>
              <a:t>Decisions on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520440"/>
            <a:ext cx="17922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B73"/>
                </a:solidFill>
                <a:latin typeface="Hanken Grotesk"/>
              </a:rPr>
              <a:t>21 ADRs beside the code. Locked: change = a new superseding ADR, never an edit.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2" y="1874519"/>
            <a:ext cx="2157984" cy="3794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54112" y="207568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22" name="Picture 21" descr="dbco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680" y="2142256"/>
            <a:ext cx="342351" cy="3423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54112" y="2697480"/>
            <a:ext cx="17922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 b="1">
                <a:solidFill>
                  <a:srgbClr val="15201C"/>
                </a:solidFill>
                <a:latin typeface="Space Grotesk"/>
              </a:rPr>
              <a:t>Optimize for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3520440"/>
            <a:ext cx="17922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B73"/>
                </a:solidFill>
                <a:latin typeface="Hanken Grotesk"/>
              </a:rPr>
              <a:t>No NAT, no RDS Proxy, zero interface endpoints, scale-to-zero Aurora, on-demand DynamoDB. The dominant cost is OTP delivery.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1874519"/>
            <a:ext cx="2157984" cy="3794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0" y="207568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27" name="Picture 26" descr="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4968" y="2142256"/>
            <a:ext cx="342351" cy="34235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58400" y="2697480"/>
            <a:ext cx="17922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 b="1">
                <a:solidFill>
                  <a:srgbClr val="15201C"/>
                </a:solidFill>
                <a:latin typeface="Space Grotesk"/>
              </a:rPr>
              <a:t>Zero to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520440"/>
            <a:ext cx="17922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B73"/>
                </a:solidFill>
                <a:latin typeface="Hanken Grotesk"/>
              </a:rPr>
              <a:t>A link going viral in a WhatsApp group is the design load: the hot path is non-VPC Lambda + DynamoDB — never SQL.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201C"/>
                </a:solidFill>
                <a:latin typeface="Space Grotesk"/>
              </a:rPr>
              <a:t>Architecture — the whole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695" y="1709928"/>
            <a:ext cx="11576304" cy="467161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6" name="Picture 5" descr="diagram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874519"/>
            <a:ext cx="11247120" cy="43424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5201C"/>
                </a:solidFill>
                <a:latin typeface="Space Grotesk"/>
              </a:rPr>
              <a:t>Data — one store per job, and what each costs 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83080"/>
          <a:ext cx="1088136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2926080"/>
                <a:gridCol w="3291840"/>
                <a:gridCol w="324612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Why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Trade-off accepted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Money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Aurora Serverless v2 (0-2 ACU, IAM auth, no proxy)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ACID + Postgres GRANTs as the money invariant (app_rw SELECT-only, poller_writer INSERT-only); SQL for reconciliation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Scale-to-zero cold resume ~20 s (60 s connect timeout + SPA warm-up probe); 50-connection cap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Customer PII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Cognito user attributes are the system of record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Auth path touches zero databases; GDPR delete = one call; backups carry no PII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ListUsers-only queries (no joins, one filter); no PITR; no attribute history. Escape hatch: dual-write projection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Operational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DynamoDB on-demand (10 tables)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Viral bursts absorbed at $0 idle; access patterns modeled as projections (byOwner, byState GSIs)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No joins, no ad-hoc queries; counters kept exact via same-table transactions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3949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15201C"/>
                </a:solidFill>
                <a:latin typeface="Hanken Grotesk"/>
              </a:rPr>
              <a:t>Deliberate constraint: </a:t>
            </a:r>
            <a:r>
              <a:rPr sz="1250" b="0">
                <a:solidFill>
                  <a:srgbClr val="6B7B73"/>
                </a:solidFill>
                <a:latin typeface="Hanken Grotesk"/>
              </a:rPr>
              <a:t>no cross-table transactions exist anywhere — counter rows live inside the counted table (single-table TransactWriteItems), ledger + audit are sequential idempotent appends behind a unique (order_id, kind, status) index. Cross-store consistency is by keys and idempotency, not coordination.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5201C"/>
                </a:solidFill>
                <a:latin typeface="Space Grotesk"/>
              </a:rPr>
              <a:t>Auth — three options, one deleted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611880" cy="2651760"/>
          </a:xfrm>
          <a:prstGeom prst="roundRect">
            <a:avLst>
              <a:gd name="adj" fmla="val 5500"/>
            </a:avLst>
          </a:prstGeom>
          <a:solidFill>
            <a:srgbClr val="FAF3E6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20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07A1E"/>
                </a:solidFill>
                <a:latin typeface="Space Grotesk"/>
              </a:rPr>
              <a:t>A  </a:t>
            </a:r>
            <a:r>
              <a:rPr sz="1350" b="1">
                <a:solidFill>
                  <a:srgbClr val="15201C"/>
                </a:solidFill>
                <a:latin typeface="Space Grotesk"/>
              </a:rPr>
              <a:t>Cognito Managed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6B7B73"/>
                </a:solidFill>
                <a:latin typeface="Hanken Grotesk"/>
              </a:rPr>
              <a:t>Hosted pages, PKCE — zero auth code to 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429000"/>
            <a:ext cx="3246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15201C"/>
                </a:solidFill>
                <a:latin typeface="Hanken Grotesk"/>
              </a:rPr>
              <a:t>REJECTED: no Hebrew/RTL (12 locales, text not editable); passkey RP-ID forced to the auth subdomain — credentials siloed off wanthat.app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611880" cy="2651760"/>
          </a:xfrm>
          <a:prstGeom prst="roundRect">
            <a:avLst>
              <a:gd name="adj" fmla="val 5500"/>
            </a:avLst>
          </a:prstGeom>
          <a:solidFill>
            <a:srgbClr val="E7F1EC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7A57"/>
                </a:solidFill>
                <a:latin typeface="Space Grotesk"/>
              </a:rPr>
              <a:t>B  </a:t>
            </a:r>
            <a:r>
              <a:rPr sz="1350" b="1">
                <a:solidFill>
                  <a:srgbClr val="15201C"/>
                </a:solidFill>
                <a:latin typeface="Space Grotesk"/>
              </a:rPr>
              <a:t>Cognito-native, own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6B7B73"/>
                </a:solidFill>
                <a:latin typeface="Hanken Grotesk"/>
              </a:rPr>
              <a:t>Browser calls SignUp / InitiateAuth / WEB_AUTHN directly; profile = ID-token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429000"/>
            <a:ext cx="3246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15201C"/>
                </a:solidFill>
                <a:latin typeface="Hanken Grotesk"/>
              </a:rPr>
              <a:t>CHOSEN: zero backend calls to authenticate; full RTL UI; pool WAF + quotas as abuse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783080"/>
            <a:ext cx="3611880" cy="2651760"/>
          </a:xfrm>
          <a:prstGeom prst="roundRect">
            <a:avLst>
              <a:gd name="adj" fmla="val 5500"/>
            </a:avLst>
          </a:prstGeom>
          <a:solidFill>
            <a:srgbClr val="F4F6F5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920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B7B73"/>
                </a:solidFill>
                <a:latin typeface="Space Grotesk"/>
              </a:rPr>
              <a:t>C  </a:t>
            </a:r>
            <a:r>
              <a:rPr sz="1350" b="1">
                <a:solidFill>
                  <a:srgbClr val="15201C"/>
                </a:solidFill>
                <a:latin typeface="Space Grotesk"/>
              </a:rPr>
              <a:t>App-owned ceremonies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6B7B73"/>
                </a:solidFill>
                <a:latin typeface="Hanken Grotesk"/>
              </a:rPr>
              <a:t>Proxy every OTP step, own WebAuthn store, Ed25519 ticket bridge, AdminSetUserPassword exchange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429000"/>
            <a:ext cx="3246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15201C"/>
                </a:solidFill>
                <a:latin typeface="Hanken Grotesk"/>
              </a:rPr>
              <a:t>BUILT, THEN DELETED: 2 Lambdas + 3 tables + a crypto path bought ONE feature - userless Face ID. Requirement waived, cost column deleted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7091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5201C"/>
                </a:solidFill>
                <a:latin typeface="Hanken Grotesk"/>
              </a:rPr>
              <a:t>Trade-offs signed off with B: </a:t>
            </a:r>
            <a:r>
              <a:rPr sz="1250" b="0">
                <a:solidFill>
                  <a:srgbClr val="6B7B73"/>
                </a:solidFill>
                <a:latin typeface="Hanken Grotesk"/>
              </a:rPr>
              <a:t>userless Face ID waived (remembered-phone one-prompt kept); phone enumeration accepted (preventUserExistenceErrors LEGACY) - mitigated by pool WAF rate rules; JWT revocation lags up to 1 h on our APIs (stateless authorizer) - acceptable while the only member surface is a read-only wallet.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5201C"/>
                </a:solidFill>
                <a:latin typeface="Hanken Grotesk"/>
              </a:rPr>
              <a:t>Measured effect: </a:t>
            </a:r>
            <a:r>
              <a:rPr sz="1250" b="0">
                <a:solidFill>
                  <a:srgbClr val="6B7B73"/>
                </a:solidFill>
                <a:latin typeface="Hanken Grotesk"/>
              </a:rPr>
              <a:t>login requires zero backend calls; the Aurora cold-resume login stall (~20 s) is structurally impossible.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5201C"/>
                </a:solidFill>
                <a:latin typeface="Space Grotesk"/>
              </a:rPr>
              <a:t>Network — pay for nothing that idles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83080"/>
          <a:ext cx="1088136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920240"/>
                <a:gridCol w="630936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Component avoided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Fixed cost avoided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Replaced by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NAT Gateway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~$33/mo + $0.045/GB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Non-VPC functions call public AWS endpoints (IAM + TLS); the only true internet egress is retailer-proxy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VPC interface endpoints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~$7-15/mo each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Zero needed: nothing in-VPC calls Cognito, Secrets Manager, or the internet - by design, not by exception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RDS Proxy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per-ACU hourly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Direct IAM DB auth; 50-connection cap + no reserved concurrency keeps pressure bounded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DynamoDB access from VPC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-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Free gateway endpoint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43484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5201C"/>
                </a:solidFill>
                <a:latin typeface="Hanken Grotesk"/>
              </a:rPr>
              <a:t>Structural consequence: </a:t>
            </a:r>
            <a:r>
              <a:rPr sz="1250" b="0">
                <a:solidFill>
                  <a:srgbClr val="6B7B73"/>
                </a:solidFill>
                <a:latin typeface="Hanken Grotesk"/>
              </a:rPr>
              <a:t>in-VPC functions cannot initiate outward calls - so the conversion chain is always proxy -&gt; writer (invoke), and admin claim intents settle asynchronously on the next poll heartbeat rather than inline.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5201C"/>
                </a:solidFill>
                <a:latin typeface="Hanken Grotesk"/>
              </a:rPr>
              <a:t>Blast-radius bonus: </a:t>
            </a:r>
            <a:r>
              <a:rPr sz="1250" b="0">
                <a:solidFill>
                  <a:srgbClr val="6B7B73"/>
                </a:solidFill>
                <a:latin typeface="Hanken Grotesk"/>
              </a:rPr>
              <a:t>the retailer credential is readable by exactly one non-VPC function; a compromised in-VPC function has no path to it or to the internet.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5201C"/>
                </a:solidFill>
                <a:latin typeface="Hanken Grotesk"/>
              </a:rPr>
              <a:t>Revisit trigger: </a:t>
            </a:r>
            <a:r>
              <a:rPr sz="1250" b="0">
                <a:solidFill>
                  <a:srgbClr val="6B7B73"/>
                </a:solidFill>
                <a:latin typeface="Hanken Grotesk"/>
              </a:rPr>
              <a:t>sustained Aurora connection pressure (alarm at 80% of 50) -&gt; introduce RDS Proxy; steady traffic -&gt; reserved concurrency once the account quota (10) is raised.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5201C"/>
                </a:solidFill>
                <a:latin typeface="Space Grotesk"/>
              </a:rPr>
              <a:t>Money — poll over webhook, append over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5349240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201C"/>
                </a:solidFill>
                <a:latin typeface="Space Grotesk"/>
              </a:rPr>
              <a:t>Ingestion: scheduled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-  </a:t>
            </a:r>
            <a:r>
              <a:rPr sz="1200" b="0">
                <a:solidFill>
                  <a:srgbClr val="6B7B73"/>
                </a:solidFill>
                <a:latin typeface="Hanken Grotesk"/>
              </a:rPr>
              <a:t>Webhooks rejected: an inbound money-bearing endpoint is a spoofing surface, needs ordering + retry semantics, and the retailer offers no reliable one anyway (ADR-0009).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-  </a:t>
            </a:r>
            <a:r>
              <a:rPr sz="1200" b="0">
                <a:solidFill>
                  <a:srgbClr val="6B7B73"/>
                </a:solidFill>
                <a:latin typeface="Hanken Grotesk"/>
              </a:rPr>
              <a:t>Poll = a cursor in poller_state + listOrdersByIndex every 15 min: replayable from any point, idempotent by the ledger unique index, nothing to authenticate inbound.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-  </a:t>
            </a:r>
            <a:r>
              <a:rPr sz="1200" b="0">
                <a:solidFill>
                  <a:srgbClr val="6B7B73"/>
                </a:solidFill>
                <a:latin typeface="Hanken Grotesk"/>
              </a:rPr>
              <a:t>Accepted latency: minutes to surface, 24-48 h to confirm (retailer settlement dominates - the product promise is days, not seconds).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-  </a:t>
            </a:r>
            <a:r>
              <a:rPr sz="1200" b="0">
                <a:solidFill>
                  <a:srgbClr val="6B7B73"/>
                </a:solidFill>
                <a:latin typeface="Hanken Grotesk"/>
              </a:rPr>
              <a:t>Interim throttling (ADR-0021): sequential calls + one ban-window retry; revisit at real volume / app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83080"/>
            <a:ext cx="5349240" cy="3931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3852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201C"/>
                </a:solidFill>
                <a:latin typeface="Space Grotesk"/>
              </a:rPr>
              <a:t>Storage: append-only + GRANT-enforced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-  </a:t>
            </a:r>
            <a:r>
              <a:rPr sz="1200" b="0">
                <a:solidFill>
                  <a:srgbClr val="6B7B73"/>
                </a:solidFill>
                <a:latin typeface="Hanken Grotesk"/>
              </a:rPr>
              <a:t>Lifecycle is data, not mutation: pending -&gt; confirmed -&gt; clawback are separate immutable rows; balances are always derived.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-  </a:t>
            </a:r>
            <a:r>
              <a:rPr sz="1200" b="0">
                <a:solidFill>
                  <a:srgbClr val="6B7B73"/>
                </a:solidFill>
                <a:latin typeface="Hanken Grotesk"/>
              </a:rPr>
              <a:t>The invariant lives in Postgres, not app code: UPDATE/DELETE revoked from every role; only poller_writer can INSERT; audit_append is SECURITY DEFINER.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-  </a:t>
            </a:r>
            <a:r>
              <a:rPr sz="1200" b="0">
                <a:solidFill>
                  <a:srgbClr val="6B7B73"/>
                </a:solidFill>
                <a:latin typeface="Hanken Grotesk"/>
              </a:rPr>
              <a:t>Hash-chained audit log makes tampering evident; admin config changes audit through the same chain.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-  </a:t>
            </a:r>
            <a:r>
              <a:rPr sz="1200" b="0">
                <a:solidFill>
                  <a:srgbClr val="6B7B73"/>
                </a:solidFill>
                <a:latin typeface="Hanken Grotesk"/>
              </a:rPr>
              <a:t>Blast radius: a bug or compromise in any read path has zero write capability on money.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5201C"/>
                </a:solidFill>
                <a:latin typeface="Space Grotesk"/>
              </a:rPr>
              <a:t>Cost model — a measured floor, then linear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83080"/>
          <a:ext cx="1088136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011680"/>
                <a:gridCol w="576072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Line item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Monthly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Note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Compute + APIs + DynamoDB idle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$0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Everything scales from zero; Aurora paused = storage only (~$2)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WAF (2 web ACLs + rules)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~$15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The deliberate fixed floor: CloudFront ACL + Cognito-pool ACL - protection we chose to always-on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Secrets, Route 53, misc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~$2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2 retailer secrets, hosted zone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OTP delivery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capped $1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SNS hard cap (SMS sandbox); WhatsApp is ~10x cheaper per message at scale - hence WhatsApp-default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NAT / proxies / endpoints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$0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Architecturally eliminated (slide 10)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892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5201C"/>
                </a:solidFill>
                <a:latin typeface="Hanken Grotesk"/>
              </a:rPr>
              <a:t>Costs we accepted knowingly: </a:t>
            </a:r>
            <a:r>
              <a:rPr sz="1250" b="0">
                <a:solidFill>
                  <a:srgbClr val="6B7B73"/>
                </a:solidFill>
                <a:latin typeface="Hanken Grotesk"/>
              </a:rPr>
              <a:t>cold-resume UX risk on first wallet read (mitigated by warm-up probe); one AWS account for dev+prod shares SMS caps and quotas - flagged for split before scale.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5201C"/>
                </a:solidFill>
                <a:latin typeface="Hanken Grotesk"/>
              </a:rPr>
              <a:t>Unit economics guardrail: </a:t>
            </a:r>
            <a:r>
              <a:rPr sz="1250" b="0">
                <a:solidFill>
                  <a:srgbClr val="6B7B73"/>
                </a:solidFill>
                <a:latin typeface="Hanken Grotesk"/>
              </a:rPr>
              <a:t>the redirect hot path (the viral surface) costs micro-cents per thousand clicks and cannot touch Aurora - cost scales with revenue-bearing traffic, not with virality.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5201C"/>
                </a:solidFill>
                <a:latin typeface="Space Grotesk"/>
              </a:rPr>
              <a:t>Limits I know about — and their revisit triggers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81359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4114800"/>
                <a:gridCol w="3749039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Limitation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Current stance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Revisit trigger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Single active region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Cross-region backups only; RTO = hours (ADR-0005)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Revenue SLA or user base that prices an active-standby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Cognito PII: no PITR, weak queries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Accepted for MVP; profile is thin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Compliance/BI needs -&gt; dual-write projection to SQL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JWT revocation lag &lt;= 1 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Only member surface is a read-only wallet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Any sensitive member mutation -&gt; short tokens or in-handler 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Account concurrency = 10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No reserved concurrency anywhere (deliberate)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Quota raise, then per-function caps return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dev + prod in one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Shared SMS cap and service quotas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Before marketing push: account split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Retailer throttling interim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Sequential calls + one ban-window retry (ADR-0021)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Poller volume growth or AliExpress app approval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7A57"/>
                </a:solidFill>
                <a:latin typeface="Space Grotesk"/>
              </a:rPr>
              <a:t>Questions?</a:t>
            </a:r>
            <a:r>
              <a:rPr sz="1200" b="0">
                <a:solidFill>
                  <a:srgbClr val="8A968F"/>
                </a:solidFill>
                <a:latin typeface="Space Mono"/>
              </a:rPr>
              <a:t>    backup: sequence diagrams · failure modes · the rejected-alternatives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F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B6AB"/>
                </a:solidFill>
                <a:latin typeface="Space Mono"/>
              </a:rPr>
              <a:t>Q&amp;A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Space Grotesk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DB6AB"/>
                </a:solidFill>
                <a:latin typeface="Hanken Grotesk"/>
              </a:rPr>
              <a:t>Sequence diagrams for the main flows  ·  the ADR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B1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5201C"/>
                </a:solidFill>
                <a:latin typeface="Space Grotesk"/>
              </a:rPr>
              <a:t>Sequence — customer auth, all four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83196" y="1618488"/>
            <a:ext cx="8025303" cy="49011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6" name="Picture 5" descr="diagram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88" y="1783080"/>
            <a:ext cx="7696119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B1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B2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5201C"/>
                </a:solidFill>
                <a:latin typeface="Space Grotesk"/>
              </a:rPr>
              <a:t>Sequence — create a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84386" y="1618488"/>
            <a:ext cx="8822921" cy="49011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6" name="Picture 5" descr="diagram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978" y="1783080"/>
            <a:ext cx="8493737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B2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5201C"/>
                </a:solidFill>
                <a:latin typeface="Space Grotesk"/>
              </a:rPr>
              <a:t>Sequence — click to ledger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3372" y="1618488"/>
            <a:ext cx="8724950" cy="49011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6" name="Picture 5" descr="diagram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964" y="1783080"/>
            <a:ext cx="8395766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B3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B4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5201C"/>
                </a:solidFill>
                <a:latin typeface="Space Grotesk"/>
              </a:rPr>
              <a:t>ADR map — locked: supersede, never edit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66160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7" name="Picture 6" descr="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07" y="2068007"/>
            <a:ext cx="289681" cy="2896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0744" y="20482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5201C"/>
                </a:solidFill>
                <a:latin typeface="Space Grotesk"/>
              </a:rPr>
              <a:t>Architecture · 0001-0009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060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0001  monorepo + Zod contracts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0002  compute seams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0003  polyglot data, no RDS Proxy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0004  NAT-free network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0005  single region + backups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0006  Cognito-native auth + PII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0007  landing path + latency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0008  attribution: custom_parameters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0009  poller, not webhook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566160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01168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2" name="Picture 11" descr="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767" y="2068007"/>
            <a:ext cx="289681" cy="2896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75504" y="20482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5201C"/>
                </a:solidFill>
                <a:latin typeface="Space Grotesk"/>
              </a:rPr>
              <a:t>Stack · 0010-0016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6060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0010  ESM / Node 24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0011  Hono + Powertools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0012  Kysely + SQL migrations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0013  Vitest + Testcontainers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0014  Biome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0015  GitHub Actions OIDC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0016  Vite SPA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828800"/>
            <a:ext cx="3566160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58200" y="201168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7F1EC"/>
          </a:solidFill>
          <a:ln w="12700">
            <a:solidFill>
              <a:srgbClr val="D2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7" name="Picture 16" descr="pl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527" y="2068007"/>
            <a:ext cx="289681" cy="28968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70264" y="20482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5201C"/>
                </a:solidFill>
                <a:latin typeface="Space Grotesk"/>
              </a:rPr>
              <a:t>Extensions · 0017-0021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6060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0017  currency + FX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0018  CloudFront front door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0019  WhatsApp messaging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0020  sub = canonical id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B7B73"/>
                </a:solidFill>
                <a:latin typeface="Space Mono"/>
              </a:rPr>
              <a:t>0021  retailer throttling (interim)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B4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B5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5201C"/>
                </a:solidFill>
                <a:latin typeface="Space Grotesk"/>
              </a:rPr>
              <a:t>ADR-0002 + 0004 — compute seams and the NAT-free bet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4217" y="1618488"/>
            <a:ext cx="6583260" cy="43525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6" name="Picture 5" descr="diagram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809" y="1783080"/>
            <a:ext cx="6254076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B5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B6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5201C"/>
                </a:solidFill>
                <a:latin typeface="Space Grotesk"/>
              </a:rPr>
              <a:t>ADR-0003 + 0027 — where data lives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27848" y="1618488"/>
            <a:ext cx="8135997" cy="29352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6" name="Picture 5" descr="diagram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440" y="1783080"/>
            <a:ext cx="7806813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70916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—  </a:t>
            </a:r>
            <a:r>
              <a:rPr sz="1200" b="0">
                <a:solidFill>
                  <a:srgbClr val="15201C"/>
                </a:solidFill>
                <a:latin typeface="Hanken Grotesk"/>
              </a:rPr>
              <a:t>The customer table was dropped when PII moved to Cognito (migration 0006_money_only) — the ledger is keyed by the Cognito sub directly.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—  </a:t>
            </a:r>
            <a:r>
              <a:rPr sz="1200" b="0">
                <a:solidFill>
                  <a:srgbClr val="15201C"/>
                </a:solidFill>
                <a:latin typeface="Hanken Grotesk"/>
              </a:rPr>
              <a:t>Admin user search runs on ListUsers (one-attribute filters); fine at MVP scale — dual-write projection is the escape hatch.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F7A57"/>
                </a:solidFill>
                <a:latin typeface="Hanken Grotesk"/>
              </a:rPr>
              <a:t>—  </a:t>
            </a:r>
            <a:r>
              <a:rPr sz="1200" b="0">
                <a:solidFill>
                  <a:srgbClr val="15201C"/>
                </a:solidFill>
                <a:latin typeface="Hanken Grotesk"/>
              </a:rPr>
              <a:t>Trade-offs accepted: no SQL over PII, no PITR for the user pool, attribute changes have no built-in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B6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B7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5201C"/>
                </a:solidFill>
                <a:latin typeface="Space Grotesk"/>
              </a:rPr>
              <a:t>Failure modes and recovery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8136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4206240"/>
                <a:gridCol w="384048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Failure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Behavior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Recovery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Aurora cold resume (~20 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First wallet read after idle stalls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SPA fires /healthz/db warm-up probe on auth screens; 60 s connect timeout rides it 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AliExpress ApiCallLimit ban window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Poll heartbeat calls rejected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Sequential calls + one ban-window retry (ADR-0021); cursor unmoved -&gt; next beat replays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WhatsApp delivery down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OTP channel unavailable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Sticky-preference fallback to SMS; runtime-config kill switches; SNS spend cap bounds abuse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Poller crash mid-batch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Partial writes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Cursor advances only after batch; ledger unique index makes replays no-ops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Dispatcher poison message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Outbox item repeatedly fails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bisectBatchOnError + 3 retries -&gt; SQS DLQ (14 d); items age out by TTL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Cognito outage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No new logins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Static SPA still serves; landing redirect works for guests (DynamoDB-only path)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B7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95560" y="256032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600" b="1">
                <a:solidFill>
                  <a:srgbClr val="DCE5E0"/>
                </a:solidFill>
                <a:latin typeface="Space Grotesk"/>
              </a:rPr>
              <a:t>B8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7A57"/>
                </a:solidFill>
                <a:latin typeface="Space Mono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3152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5201C"/>
                </a:solidFill>
                <a:latin typeface="Space Grotesk"/>
              </a:rPr>
              <a:t>Rejected alternatives — the graveyard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37360"/>
          <a:ext cx="1088136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777240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Alternative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7FE0B0"/>
                          </a:solidFill>
                          <a:latin typeface="Space Grotesk"/>
                        </a:rPr>
                        <a:t>Why not</a:t>
                      </a:r>
                    </a:p>
                  </a:txBody>
                  <a:tcPr marL="91440" marR="91440" marT="45720" marB="45720">
                    <a:solidFill>
                      <a:srgbClr val="1520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RDS Data API (no-VPC SQL)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Not available in il-central-1 - verified, killed the design branch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Lambda Function URLs for landing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Not available in il-central-1 -&gt; HTTP API behind CloudFront /p/*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NAT + interface endpoints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Fixed monthly cost for idle capability; non-VPC chaining is $0 and least-privilege by construction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RDS Proxy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Cost + unneeded at 50-connection scale; revisit on connection-pressure alarm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Managed Login for customers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No Hebrew/RTL; passkey RP-ID silo on the auth subdomain (kept for the admin console, where it fits)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Conversion webhooks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Spoofable inbound money surface + no reliable retailer support; reconciliation poll is replayable and auditable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Self-minted session JWTs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A second token validation path across every API; Cognito stays the only issuer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1">
                          <a:solidFill>
                            <a:srgbClr val="15201C"/>
                          </a:solidFill>
                          <a:latin typeface="Hanken Grotesk"/>
                        </a:rPr>
                        <a:t>Aurora customer table (PII in SQL)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6B7B73"/>
                          </a:solidFill>
                          <a:latin typeface="Hanken Grotesk"/>
                        </a:rPr>
                        <a:t>Kept Aurora on the auth path and PII in two stores; moved to Cognito attributes (ADR-0027)</a:t>
                      </a:r>
                    </a:p>
                  </a:txBody>
                  <a:tcPr marL="91440" marR="91440" marT="45720" marB="45720"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7B73"/>
                </a:solidFill>
                <a:latin typeface="Space Grotesk"/>
              </a:rPr>
              <a:t>want</a:t>
            </a:r>
            <a:r>
              <a:rPr sz="1100" b="1">
                <a:solidFill>
                  <a:srgbClr val="1F7A57"/>
                </a:solidFill>
                <a:latin typeface="Space Grotesk"/>
              </a:rPr>
              <a:t>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68F"/>
                </a:solidFill>
                <a:latin typeface="Space Mono"/>
              </a:rPr>
              <a:t>B8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