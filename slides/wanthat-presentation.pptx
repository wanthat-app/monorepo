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78" r:id="rId30"/>
    <p:sldId id="263" r:id="rId15"/>
    <p:sldId id="262" r:id="rId14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67" r:id="rId19"/>
    <p:sldId id="291" r:id="rId43"/>
    <p:sldId id="268" r:id="rId20"/>
    <p:sldId id="269" r:id="rId21"/>
    <p:sldId id="264" r:id="rId16"/>
    <p:sldId id="265" r:id="rId17"/>
    <p:sldId id="266" r:id="rId18"/>
    <p:sldId id="270" r:id="rId22"/>
    <p:sldId id="271" r:id="rId23"/>
    <p:sldId id="272" r:id="rId24"/>
    <p:sldId id="279" r:id="rId31"/>
    <p:sldId id="280" r:id="rId32"/>
    <p:sldId id="281" r:id="rId33"/>
    <p:sldId id="282" r:id="rId34"/>
    <p:sldId id="283" r:id="rId35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21.xml"/><Relationship Id="rId17" Type="http://schemas.openxmlformats.org/officeDocument/2006/relationships/slide" Target="slides/slide22.xml"/><Relationship Id="rId18" Type="http://schemas.openxmlformats.org/officeDocument/2006/relationships/slide" Target="slides/slide23.xml"/><Relationship Id="rId19" Type="http://schemas.openxmlformats.org/officeDocument/2006/relationships/slide" Target="slides/slide17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32.xml"/><Relationship Id="rId26" Type="http://schemas.openxmlformats.org/officeDocument/2006/relationships/slide" Target="slides/slide33.xml"/><Relationship Id="rId27" Type="http://schemas.openxmlformats.org/officeDocument/2006/relationships/slide" Target="slides/slide34.xml"/><Relationship Id="rId28" Type="http://schemas.openxmlformats.org/officeDocument/2006/relationships/slide" Target="slides/slide35.xml"/><Relationship Id="rId29" Type="http://schemas.openxmlformats.org/officeDocument/2006/relationships/slide" Target="slides/slide36.xml"/><Relationship Id="rId30" Type="http://schemas.openxmlformats.org/officeDocument/2006/relationships/slide" Target="slides/slide7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10.xml"/><Relationship Id="rId37" Type="http://schemas.openxmlformats.org/officeDocument/2006/relationships/slide" Target="slides/slide11.xml"/><Relationship Id="rId38" Type="http://schemas.openxmlformats.org/officeDocument/2006/relationships/slide" Target="slides/slide12.xml"/><Relationship Id="rId39" Type="http://schemas.openxmlformats.org/officeDocument/2006/relationships/slide" Target="slides/slide13.xml"/><Relationship Id="rId40" Type="http://schemas.openxmlformats.org/officeDocument/2006/relationships/slide" Target="slides/slide14.xml"/><Relationship Id="rId41" Type="http://schemas.openxmlformats.org/officeDocument/2006/relationships/slide" Target="slides/slide15.xml"/><Relationship Id="rId42" Type="http://schemas.openxmlformats.org/officeDocument/2006/relationships/slide" Target="slides/slide16.xml"/><Relationship Id="rId43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"Wanthat turns the product links people already send to friends into cashback — I'll show the product in two minutes, then spend the rest on how it's built."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word-of-mouth drives 20-50% of purchases and nobody pays for it. We are not building an influencer platform — the persona is a regular person in four family WhatsApp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gates decide Phase 2 (group sharing, two-sided rewards) and a pre-seed raise.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loop is two taps for the member; the friend's landing carries the personal review, which is the trust mechanic. Screens are the design-handoff mocks.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"Estimated" chip — cashback is held in the settlement currency and the ILS headline is a display estimate (ADR-0017); conversion happens at withdrawal.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drove every decision that follows; when two conflicted, cost and money-safety won.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why not one Postgres for everything — the redirect hot path must absorb viral spikes at zero idle cost, and the auth path must not depend on a relational database resume. (The data-homes diagram is in backup B6.)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sequence diagram in backup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il-central-1 gaps shaped this too — no RDS Data API (killed the no-VPC data path), no Lambda Function URLs (landing sits behind an HTTP API).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sequence in backup B3. Unmatched orders are not dropped — they park in unattributed_order and an admin claim settles on the next heartbeat.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are il-central-1 approximations; the point is the shape — a ~$20 measured floor, then linear with 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row is documented in an ADR or docs/AWS_Architecture.md — none of these are surprises.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Registration IS SignUp; OTP and passkey logins; the only Aurora touch is the wallet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Cache-first product resolve; on a miss member-catalog invokes retailer-linkgen, which calls AliExpress; both writes are same-table transactions.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Impression, click, purchase, 15-min poll, attribution resolve, append-only ledger + audit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what touches Aurora enters the VPC; in-VPC functions cannot call out — every invoke arrow starts outside the VPC and the conversion chain is always settlement -&gt; writer; a NAT Gateway would be the single biggest fixed cost in the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split-by-guarantee is the next slide's architecture in miniature — PII never leaves Cognito, the viral read path never leaves DynamoDB, and money only ever APPENDS in Aurora. Per-column schemas are in backup B10/B11.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ADR-0005. The Cognito constraint means a hot multi-region identity tier is off the table regardless of budget - the SLA argument and the platform constraint point the same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RPO minutes in-region via PITR; cross-region protects against region loss with RTO hours. Cognito PII has no cross-region recovery - a documented, accepted MVP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Alarm list is deliberately short - every alarm is actionable. Funnel events are business analytics, not ops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chain is verifiable end-to-end with one SQL window query. When we scrubbed PII from historical payloads (2026-07), the migration recomputed the whole chain and it still verifies - an auditable rewrite, not a silent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 tables, all on-demand with PITR. The counter-in-table pattern keeps exact counts transactional without cross-table transactions.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WAF stays flat at every scale - member API operations bypass CloudFront entirely. Breaks BEFORE the bill: account concurrency 10 (~10k users, peaks) - AliExpress rate limits (ADR-0021) - Aurora's 50-connection cap post-quota-raise (only THEN does the proxy earn its cost) - the 2-ACU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pn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notesSlide" Target="../notesSlides/notesSlide6.xml"/><Relationship Id="rId8" Type="http://schemas.openxmlformats.org/officeDocument/2006/relationships/image" Target="../media/image3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1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3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737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ISRAEL MVP  ·  AWS SERVERLESS  ·  IL-CENTRAL-1 (TEL AVIV)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789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7200" b="1">
                <a:solidFill>
                  <a:srgbClr val="FFFFFF"/>
                </a:solidFill>
                <a:latin typeface="Space Grotesk"/>
              </a:rPr>
              <a:t>want</a:t>
            </a:r>
            <a:r>
              <a:rPr sz="7200" b="1">
                <a:solidFill>
                  <a:srgbClr val="7FE0B0"/>
                </a:solidFill>
                <a:latin typeface="Space Grotesk"/>
              </a:rPr>
              <a:t>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5661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0">
                <a:solidFill>
                  <a:srgbClr val="BFD3CB"/>
                </a:solidFill>
                <a:latin typeface="Space Grotesk"/>
              </a:rPr>
              <a:t>Earn cashback by sharing what you love.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9DB6AB"/>
                </a:solidFill>
                <a:latin typeface="Hanken Grotesk"/>
              </a:rPr>
              <a:t>Product &amp; architecture overview  ·  Dennis Potashnik  ·  July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0749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9DB6AB"/>
                </a:solidFill>
                <a:latin typeface="Space Mono"/>
              </a:rPr>
              <a:t>1 · the business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9463" y="5074920"/>
            <a:ext cx="1453896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9DB6AB"/>
                </a:solidFill>
                <a:latin typeface="Space Mono"/>
              </a:rPr>
              <a:t>2 · the product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87952" y="5074920"/>
            <a:ext cx="184708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9DB6AB"/>
                </a:solidFill>
                <a:latin typeface="Space Mono"/>
              </a:rPr>
              <a:t>3 · the architecture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5074920"/>
            <a:ext cx="1773936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9DB6AB"/>
                </a:solidFill>
                <a:latin typeface="Space Mono"/>
              </a:rPr>
              <a:t>backup · deep dives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Every everyday shopper becomes an affiliate — automatically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>
                <a:solidFill>
                  <a:srgbClr val="8A968F"/>
                </a:solidFill>
                <a:latin typeface="Space Mono"/>
              </a:rPr>
              <a:t>THE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56816"/>
            <a:ext cx="53492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3969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02_i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59" y="2208276"/>
            <a:ext cx="338328" cy="3383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2176272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Shoppers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761488"/>
            <a:ext cx="49469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share product links every day — "where did you get that?" — and earn nothing for the purchases they drive.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19856"/>
            <a:ext cx="53492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360273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02_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59" y="3671316"/>
            <a:ext cx="338328" cy="338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72184" y="3639312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Cashback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24528"/>
            <a:ext cx="49469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Rakuten and Honey reward passive shopping through their own portal; the social recommendation goes unpaid and unmeasured.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882896"/>
            <a:ext cx="53492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506577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02_i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259" y="5134356"/>
            <a:ext cx="338328" cy="338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72184" y="5102352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Organic word-of-mouth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87568"/>
            <a:ext cx="49469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brands keep growing influencer budgets while organic word-of-mouth — which converts better — stays invisible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6459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>
                <a:solidFill>
                  <a:srgbClr val="1F7A57"/>
                </a:solidFill>
                <a:latin typeface="Space Mono"/>
              </a:rPr>
              <a:t>THE PRODUCT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1956816"/>
            <a:ext cx="5074920" cy="4114800"/>
          </a:xfrm>
          <a:prstGeom prst="roundRect">
            <a:avLst>
              <a:gd name="adj" fmla="val 5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56832" y="2157984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02_i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5412" y="2226564"/>
            <a:ext cx="338328" cy="3383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675120" y="2788920"/>
            <a:ext cx="46177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15201C"/>
                </a:solidFill>
                <a:latin typeface="Hanken Grotesk"/>
              </a:rPr>
              <a:t>Wanthat turns the link you already send into a tracked affiliate link.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15201C"/>
                </a:solidFill>
                <a:latin typeface="Hanken Grotesk"/>
              </a:rPr>
              <a:t>Wanthat is the single registered affiliate across AliExpress / Shein / Amazon and others — when a friend buys, the commission flows in and is split between the recommender and the buyer.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15201C"/>
                </a:solidFill>
                <a:latin typeface="Hanken Grotesk"/>
              </a:rPr>
              <a:t>It monetizes a behavior that already exists.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Why Israel, why now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02736" y="20299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3_i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1315" y="2098548"/>
            <a:ext cx="338328" cy="3383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6968" y="1975104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66%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97480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of Israeli online orders are AliExpress — the MVP integration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97496" y="20299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03_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6075" y="2098548"/>
            <a:ext cx="338328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81728" y="1975104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97480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WhatsApp penetration among the highest globally — group sharing is a daily habit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92256" y="20299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03_i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0836" y="2098548"/>
            <a:ext cx="338328" cy="338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76488" y="1975104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$17B+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97480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global affiliate market — a proven commercial model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005072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02736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03_i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1315" y="4274820"/>
            <a:ext cx="338328" cy="3383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6968" y="4151376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3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4873752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AliExpress attribution window — sharing must be instant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4005072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97496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03_i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6075" y="4274820"/>
            <a:ext cx="338328" cy="33832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81728" y="4151376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₪20+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1728" y="4873752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payout via bank / card / Bit / PayBox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005072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192256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s03_i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60836" y="4274820"/>
            <a:ext cx="338328" cy="33832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476488" y="4151376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Month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6488" y="4873752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go/no-go gates: 500 active sharers · &gt;20% CTR · &gt;6% conversion · &gt;50% 30-day return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share a recommendation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6" name="Picture 5" descr="flow-1-create-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Member pastes a product 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3493008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79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10" name="Picture 9" descr="flow-2-link-read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208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624327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Link ready — product pulled, cashback split shown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493008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7488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WhatsApp — off-platform</a:t>
            </a:r>
          </a:p>
        </p:txBody>
      </p:sp>
      <p:pic>
        <p:nvPicPr>
          <p:cNvPr id="14" name="Picture 13" descr="flow-3-whatsapp-sh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216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4974336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Shared on WhatsApp — disclosure included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3493008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97496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wanthat.app/p/Mx7Qa</a:t>
            </a:r>
          </a:p>
        </p:txBody>
      </p:sp>
      <p:pic>
        <p:nvPicPr>
          <p:cNvPr id="18" name="Picture 17" descr="flow-4-friend-landin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7223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324344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4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Friend opens the branded landing — with the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6024" y="3493008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47504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50" b="0">
                <a:solidFill>
                  <a:srgbClr val="6B7B73"/>
                </a:solidFill>
                <a:latin typeface="Space Mono"/>
              </a:rPr>
              <a:t>→ aliexpress.com — attributed</a:t>
            </a:r>
          </a:p>
        </p:txBody>
      </p:sp>
      <p:pic>
        <p:nvPicPr>
          <p:cNvPr id="22" name="Picture 21" descr="flow-5-redirect-stor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7232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674352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5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Signed in, sent to the store — purchase attributed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the cashback comes 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700784"/>
            <a:ext cx="2322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wanthat.app/activity</a:t>
            </a:r>
          </a:p>
        </p:txBody>
      </p:sp>
      <p:pic>
        <p:nvPicPr>
          <p:cNvPr id="6" name="Picture 5" descr="earn-1-activ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2093976" cy="361188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806440"/>
            <a:ext cx="245973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Conversion tracked — pending until the store confirms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6312" y="3685032"/>
            <a:ext cx="2624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59" y="1700784"/>
            <a:ext cx="2322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wanthat.app/home</a:t>
            </a:r>
          </a:p>
        </p:txBody>
      </p:sp>
      <p:pic>
        <p:nvPicPr>
          <p:cNvPr id="10" name="Picture 9" descr="earn-2-wallet-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488" y="2103120"/>
            <a:ext cx="2093976" cy="361188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864607" y="5806440"/>
            <a:ext cx="245973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Wallet credited — estimated ILS over real currencies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3685032"/>
            <a:ext cx="2624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8048" y="1700784"/>
            <a:ext cx="2322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wanthat.app/withdraw</a:t>
            </a:r>
          </a:p>
        </p:txBody>
      </p:sp>
      <p:pic>
        <p:nvPicPr>
          <p:cNvPr id="14" name="Picture 13" descr="earn-3-withdra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7776" y="2103120"/>
            <a:ext cx="2093976" cy="361188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454896" y="5806440"/>
            <a:ext cx="245973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Withdraw from ₪20 — bank, card, Bit or PayBox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Engineering principles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91640"/>
            <a:ext cx="352044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6_i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1943100"/>
            <a:ext cx="338328" cy="3383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35608" y="1929384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Monorepo, schema-first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468880"/>
            <a:ext cx="3154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pnpm + Turborepo, TypeScript everywhere (Node 24, arm64). Zod contracts in one package: inferred types + runtime validation at every boundary.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91640"/>
            <a:ext cx="352044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2628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06_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288" y="1943100"/>
            <a:ext cx="338328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20640" y="1929384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Everything as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468880"/>
            <a:ext cx="3154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AWS CDK v2; per-env stacks; zero console changes. PRs run CI + cdk diff; merge deploys dev; SQL migrations run in-deploy; verify no orphaned resources after deploys.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2" y="1691640"/>
            <a:ext cx="352044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11312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06_i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1943100"/>
            <a:ext cx="338328" cy="338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805672" y="1929384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Decisions on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1312" y="2468880"/>
            <a:ext cx="3154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ADRs beside the code. Locked: change is a new superseding ADR, never an edit.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050792"/>
            <a:ext cx="352044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8" y="4233672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06_i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" y="4302252"/>
            <a:ext cx="338328" cy="3383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435608" y="4288536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Optimize for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" y="4828032"/>
            <a:ext cx="3154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Avoid constant costs: zero interface endpoints, scale-to-zero, on-demand DBs.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4050792"/>
            <a:ext cx="352044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26280" y="4233672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06_i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0288" y="4302252"/>
            <a:ext cx="338328" cy="33832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120640" y="4288536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Zero to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4828032"/>
            <a:ext cx="3154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 link going viral in a WhatsApp group is the design spike.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28432" y="4050792"/>
            <a:ext cx="352044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11312" y="4233672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05672" y="4288536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Security by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11312" y="4828032"/>
            <a:ext cx="3154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Least privilege per function — IAM + one Postgres role each; money is append-only + audited; PII isolated in Cognito; workers never HTTP-exposed.</a:t>
            </a:r>
          </a:p>
        </p:txBody>
      </p:sp>
      <p:pic>
        <p:nvPicPr>
          <p:cNvPr id="33" name="Picture 32" descr="icon-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5320" y="4302252"/>
            <a:ext cx="338328" cy="3383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Data model — three homes, one key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44168" y="1481328"/>
            <a:ext cx="9509760" cy="4206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7</a:t>
            </a:r>
          </a:p>
        </p:txBody>
      </p:sp>
      <p:pic>
        <p:nvPicPr>
          <p:cNvPr id="10" name="Picture 9" descr="slide-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" y="2221857"/>
            <a:ext cx="9144000" cy="272518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" y="57607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B7B73"/>
                </a:solidFill>
                <a:latin typeface="Hanken Grotesk"/>
              </a:rPr>
              <a:t>References across stores are soft — keys plus idempotency, never foreign keys or cross-store transactions. The Cognito sub ties PII, links and money together.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Data stores and cost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2926080"/>
                <a:gridCol w="3291840"/>
                <a:gridCol w="324612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Data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Trade-off accepted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Money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Aurora Serverless v2 (0-2 ACU, IAM auth, no proxy)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ACID + Postgres GRANTs as the money invariant (one role per function: wallet_reader / ledger_reader SELECT-only, ledger_writer INSERT-only, audit_writer = audit_append only); SQL for reconciliation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Scale-to-zero cold resume ~20 s (60 s connect timeout + SPA warm-up probe); 50-connection cap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Customer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Cognito user attributes are the system of record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Auth path touches zero databases; GDPR delete = one call; backups carry no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ListUsers-only queries (no joins, one filter); no PITR; no attribute history. Escape hatch: dual-write projection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Operational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DynamoDB on-demand (9 tables)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Viral bursts absorbed at $0 idle; access patterns modeled as projections (byOwner, byState GSIs)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joins, no ad-hoc queries; counters kept exact via same-table transactions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394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250" b="1">
                <a:solidFill>
                  <a:srgbClr val="15201C"/>
                </a:solidFill>
                <a:latin typeface="Hanken Grotesk"/>
              </a:rPr>
              <a:t>Deliberate constraint: 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no cross-STORE transactions exist anywhere — counter rows live inside the counted table (single-table TransactWriteItems); each ledger append commits with its audit witness in ONE Aurora transaction (the single intra-store exception), and replays stay no-ops via the unique (order_id, kind, status) index. Cross-store consistency is by keys and idempotency, not coordination.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— the starting point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8521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Hanken Grotesk"/>
              </a:rPr>
              <a:t>Starting with:  in-VPC Aurora Serverless v2   and   DynamoDB on-demand.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UC1 — member creates a recommendation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SPA is served from S3 via CloudFront.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Cognito-native authentication at the application level.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The retailer link is created ONCE per product (cache; linkgen is the sole writer).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UC2 — the recommendation is shared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This is the hot path.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The recommendation page is server-rendered and cached on CloudFront (60 s, origin-controlled).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The TS landing app boots on the page for auth / registration and redirect-link generation.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UC3 — registration, login, guest + redirect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Every registration appends a hash-chained audit row — each row carries the previous row's hash.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audit_writer is granted EXECUTE on the procedure ONLY.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The stored procedure serializes concurrent appends (advisory lock).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UC4 — settlement pulled in the background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Internal-only flow — the ONLY path that can append wallet entries (GRANT-enforced).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Side use case: FX rates pulled from the exchange-rate provider.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UC5 — the member home page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An Aurora cold resume may delay the wallet total + recent activity.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Everything else is operational immediately.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UC6 — the admin console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Cognito Managed Login; a SEPARATE employee pool.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Operational-data management; money views are read-only.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— additional use cases, same principles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Observability.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Guest attribution within the affiliation window.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Manual attribution of unattributed settlements.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Ops counters for real-time admin stats.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Offline analytics.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Cost model — a measured floor, then linear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2011680"/>
                <a:gridCol w="576072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Line item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Monthly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Note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Compute + APIs + DynamoDB idle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Everything scales from zero; Aurora paused = storage only (~$2)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WAF (2 web ACLs + rules)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~$15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The deliberate fixed floor: CloudFront ACL + Cognito-pool ACL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Secrets, Route 53, misc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2 retailer secrets, hosted zone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OTP delivery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capped $1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SNS hard cap (SMS sandbox); WhatsApp ~10x cheaper per message at scale — hence WhatsApp-default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/ proxies /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Architecturally eliminated (backup B2)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98348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Costs accepted knowingly: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cold-resume UX risk on first wallet read (mitigated by warm-up probe); one AWS account for dev+prod shares SMS caps and quotas — flagged for split.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Unit economics guardrail: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redirect hot path costs micro-cents per thousand clicks and cannot touch Aurora — cost scales with revenue-bearing traffic, not with virality.</a:t>
            </a:r>
          </a:p>
          <a:p>
            <a:r>
              <a:rPr sz="1250" b="1">
                <a:solidFill>
                  <a:srgbClr val="15201C"/>
                </a:solidFill>
                <a:latin typeface="Hanken Grotesk"/>
              </a:rPr>
              <a:t>Scale projection (10 → 100k users): next slide.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Cost projection by user count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554480"/>
          <a:ext cx="108813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463040"/>
                <a:gridCol w="1463040"/>
                <a:gridCol w="1463040"/>
                <a:gridCol w="1463040"/>
                <a:gridCol w="1463040"/>
              </a:tblGrid>
              <a:tr h="39319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Monthly (prod)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10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100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1,000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10,000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100,000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WAF (2 ACLs, fixed + $0.60/M req)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API Gateway (~$1.2/M)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$0.40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Lambda (256MB arm64)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DynamoDB on-demand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$0.40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Aurora (compute + storage)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 (8-ACU minimum)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($0.015/MAU after 10k free)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$1,350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CloudFront + misc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Total</a:t>
                      </a:r>
                    </a:p>
                  </a:txBody>
                  <a:tcPr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~$20</a:t>
                      </a:r>
                    </a:p>
                  </a:txBody>
                  <a:tcPr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~$25</a:t>
                      </a:r>
                    </a:p>
                  </a:txBody>
                  <a:tcPr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~$65</a:t>
                      </a:r>
                    </a:p>
                  </a:txBody>
                  <a:tcPr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~$215</a:t>
                      </a:r>
                    </a:p>
                  </a:txBody>
                  <a:tcPr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~$1,835</a:t>
                      </a:r>
                    </a:p>
                  </a:txBody>
                  <a:tcPr>
                    <a:solidFill>
                      <a:srgbClr val="EAF5E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562356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B7B73"/>
                </a:solidFill>
                <a:latin typeface="Hanken Grotesk"/>
              </a:rPr>
              <a:t>Assumptions: 10 operations/user/day, ~70/30 read-write, il-central-1 approximate prices, prod only; every active user = 1 Cognito MAU; RDS Proxy included from 10k users.</a:t>
            </a:r>
          </a:p>
          <a:p>
            <a:r>
              <a:rPr sz="1100">
                <a:solidFill>
                  <a:srgbClr val="6B7B73"/>
                </a:solidFill>
                <a:latin typeface="Hanken Grotesk"/>
              </a:rPr>
              <a:t>Two step functions, then linear: Aurora stops sleeping (~1k users); the Cognito free tier ends at exactly 10k MAU. Per-user at 100k: ~$0.018/month.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Known limits — and their revisit triggers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59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4114800"/>
                <a:gridCol w="3749039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Limitation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Current stance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Revisit trigger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Single active region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Cross-region backups only; RTO = hours (ADR-0005)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Revenue SLA or user base that prices an active-standby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PII: no PITR, weak queries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Accepted for MVP; profile is thin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Compliance/BI needs → dual-write projection to SQL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Account concurrency = 10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reserved concurrency anywhere (deliberate)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Quota raise, then per-function caps return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dev + prod in one account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Shared SMS cap and service quotas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Before marketing push: account split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Retailer throttling interim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+ one ban-window retry (ADR-0021)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Poller volume growth or AliExpress app approval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5778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1F7A57"/>
                </a:solidFill>
                <a:latin typeface="Space Grotesk"/>
              </a:rPr>
              <a:t>Questions?</a:t>
            </a:r>
            <a:r>
              <a:rPr sz="1200" b="0">
                <a:solidFill>
                  <a:srgbClr val="8A968F"/>
                </a:solidFill>
                <a:latin typeface="Space Mono"/>
              </a:rPr>
              <a:t>    backup: sequence diagrams · failure modes · the rejected-alternatives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774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Q&amp;A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000" b="1">
                <a:solidFill>
                  <a:srgbClr val="FFFFFF"/>
                </a:solidFill>
                <a:latin typeface="Space Grotesk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9DB6AB"/>
                </a:solidFill>
                <a:latin typeface="Hanken Grotesk"/>
              </a:rPr>
              <a:t>Decisions and trade-offs  ·  sequence diagrams  ·  schemas  ·  operations  ·  the ADR map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Auth — three options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FAF3E6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B07A1E"/>
                </a:solidFill>
                <a:latin typeface="Space Grotesk"/>
              </a:rPr>
              <a:t>A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 Managed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Hosted pages, PKCE — zero auth code to 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REJECTED: no Hebrew/RTL (12 locales, text not editable); passkey RP-ID forced to the auth subdomain — credentials siloed off wanthat.app.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E7F1EC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F7A57"/>
                </a:solidFill>
                <a:latin typeface="Space Grotesk"/>
              </a:rPr>
              <a:t>B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Cognito-native, own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Browser calls SignUp / InitiateAuth / WEB_AUTHN directly; profile = ID-token claims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CHOSEN: zero backend calls to authenticate; full RTL UI; pool WAF + quotas as abuse control.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F4F6F5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6B7B73"/>
                </a:solidFill>
                <a:latin typeface="Space Grotesk"/>
              </a:rPr>
              <a:t>C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App-owned ceremonies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Proxy every OTP step, own WebAuthn store, Ed25519 ticket bridge, AdminSetUserPassword exchange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ALTERNATIVE — NOT PURSUED: 2 Lambdas + 3 tables + a crypto path buy exactly ONE feature — userless Face ID; the requirement was waived, so that cost buys nothing.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70916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Trade-offs signed off with B: userless Face ID waived (remembered-phone one-prompt kept); phone enumeration accepted (preventUserExistenceErrors LEGACY) — mitigated by pool WAF rate rules; JWT revocation lags up to 15 min on our APIs (stateless authorizer, 15-minute access tokens) — acceptable for the current member surface.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Measured effect: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login requires zero backend calls; the Aurora cold-resume login stall (~20 s) is structurally impossible.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Network — pay for nothing that idles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920240"/>
                <a:gridCol w="630936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Component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Fixed cost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Replaced by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Gateway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~$33/mo + $0.045/GB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Non-VPC functions call public AWS endpoints (IAM + TLS); the only true internet egress is the retailer tier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VPC interface endpoints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~$7-15/mo each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Zero needed: nothing in-VPC calls Cognito, Secrets Manager, or the internet — by design, not by exception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per-ACU hourly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Direct IAM DB auth; 50-connection cap + no reserved concurrency keeps pressure bounded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DynamoDB access from VPC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Free gateway endpoint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34840"/>
            <a:ext cx="10881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Structural consequence: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in-VPC functions cannot initiate outward calls — the conversion chain is always proxy → writer (invoke), and admin claim intents settle asynchronously on the next poll heartbeat.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Blast-radius bonus: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retailer credential is readable by exactly one non-VPC function; a compromised in-VPC function has no path to it or to the internet.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Revisit trigger: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sustained Aurora connection pressure (alarm at 80% of 50) → RDS Proxy; steady traffic → reserved concurrency once the account quota (10) is raised.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Money — poll over webhook, append over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Ingestion: scheduled reconciliation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Webhooks rejected: an inbound money-bearing endpoint is a spoofing surface, needs ordering and retry semantics, and the retailer offers no reliable one anyway (ADR-0009).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Poll = a cursor in poller_state + listOrdersByIndex every 15 min: replayable from any point, idempotent by the ledger unique index, nothing to authenticate inbound.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Accepted latency: minutes to surface, 24-48 h to confirm (retailer settlement dominates — the product promise is days, not seconds).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Interim throttling (ADR-0021): sequential calls + one ban-window retry; revisit at volume.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Storage: append-only + GRANT-enforced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9944" y="251460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Lifecycle is data, not mutation: pending → confirmed → clawback are separate immutable rows; balances are always derived.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The invariant lives in Postgres, not app code: UPDATE/DELETE revoked from every role; only ledger_writer can INSERT; audit_append is SECURITY DEFINER and the only door into the audit log.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Hash-chained audit log makes tampering evident; admin config changes audit the same way.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Blast radius: a bug or compromise in any read path has zero write capability on money.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Sequence — customer auth, all four 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04158" y="1618488"/>
            <a:ext cx="6383378" cy="490118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750" y="1783080"/>
            <a:ext cx="6054194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Sequence — create a link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5464" y="1618488"/>
            <a:ext cx="10580767" cy="490118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056" y="1783080"/>
            <a:ext cx="10251583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Sequence — click to ledger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3455" y="1879849"/>
            <a:ext cx="10844784" cy="43784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2044441"/>
            <a:ext cx="10515600" cy="404927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Trade-off — HA vs single region (ADR-0005)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Chosen: single active region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Target: 99.5% availability (~3.6 h/month) — lenient by design for an MVP.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il-central-1 active; eu-central-1 is a RESTORE target, not a standby.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RPO ~minutes (PITR); RTO ~hours (region-loss rebuild from cross-region copies).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Hard constraint: Cognito has NO multi-region replication in il-central-1 — hot identity failover is not natively possible at any spend.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Rejected, and when to revisit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9944" y="251460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Active-passive multi-region now: not required for 99.5%; identity failover would be non-native anyway; unjustified cost + complexity at MVP.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In-region backups only: a region incident would lose a money ledger — unacceptable at any SLA.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Revisit: an SLA beyond 99.5%, or identity region-loss recovery becoming a hard requirement.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Backup strategy (ADR-0005)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737360"/>
          <a:ext cx="108813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181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Data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In-region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Cross-region (eu-central-1)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Aurora ledger +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PITR, continuous — RPO ~minutes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Automated-snapshot copy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DynamoDB (9 tables)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PITR on every 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Export / copy for the redirect projection + attribution 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Funnel + audit events (S3)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Versioning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Cross-region replication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Secrets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Secrets Manager replication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Cognito (identity + ALL PII)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Managed by the 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NONE — no cross-region recovery in MVP (accepted, documented)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51206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B7B73"/>
                </a:solidFill>
                <a:latin typeface="Hanken Grotesk"/>
              </a:rPr>
              <a:t>The hash-chained audit log complements backups: restores are tamper-evident, not just recoverable.</a:t>
            </a:r>
          </a:p>
          <a:p>
            <a:r>
              <a:rPr sz="1200">
                <a:solidFill>
                  <a:srgbClr val="6B7B73"/>
                </a:solidFill>
                <a:latin typeface="Hanken Grotesk"/>
              </a:rPr>
              <a:t>Status honesty: PITR is live everywhere; the cross-region copy jobs are the one deferred item of ADR-0005 — tracked, not yet deployed.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Observability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FAF3E6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B07A1E"/>
                </a:solidFill>
                <a:latin typeface="Space Grotesk"/>
              </a:rPr>
              <a:t>See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Per-surface CloudWatch dashboards: API count / 5xx / p95, Lambda errors / throttles / p95, Aurora ACU + connections, SMS spend. Edge dashboard (CloudFront + WAF) in us-east-1.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X-Ray tracing on every function; structured logs with retention bounds — dev 1 month, prod 6 months.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E7F1EC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F7A57"/>
                </a:solidFill>
                <a:latin typeface="Space Grotesk"/>
              </a:rPr>
              <a:t>Alert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SNS -&gt; ops email: per-Lambda errors (13 steady-state functions), per-API 5xx, Aurora connections at 80% of the 50 cap, month-to-date SMS spend at 80% of the cap.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The two deploy-time triggers are excluded BY DESIGN — their failure fails the deploy itself.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F4F6F5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6B7B73"/>
                </a:solidFill>
                <a:latin typeface="Space Grotesk"/>
              </a:rPr>
              <a:t>Analyze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Funnel pipeline: CloudWatch Logs subscription filters on landing / retailer-settlement / ledger-writer pick impression, click, conversion, order_untracked.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-&gt; Firehose -&gt; date-partitioned S3 -&gt; Glue -&gt; Athena with partition projection.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70916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The alarm list is deliberately short — every alarm is actionable; funnel events are business analytics, not ops noise, which is why they leave CloudWatch.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Aurora schema + the hash chain — conceptual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2880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wallet_entry — the append-only ledger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49377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id, cognito_sub, kind, amount_minor, currency, order_id, recommendation_id, status, created_at — no FK anywhere (the user store is Cognito).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Lifecycle is rows, not updates: pending -&gt; confirmed -&gt; clawback are separate immutable appends; balances are always derived.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Unique (order_id, kind, status) = poll idempotency; UPDATE / DELETE revoked from every role.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Every append commits with its audit_append witness in ONE transaction (2026-07-18) — no ledger row can exist unwitnessed.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2880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audit_log — hash-chained events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9944" y="2514600"/>
            <a:ext cx="49377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id, prev_hash, entry_hash, payload jsonb, created_at.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SECURITY DEFINER audit_append is the ONLY door in — an advisory lock serializes writers so the chain can never fork.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entry_hash = sha256(prev_hash | payload | epoch(created_at)) — any edit anywhere breaks every later hash.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B10</a:t>
            </a:r>
          </a:p>
        </p:txBody>
      </p:sp>
      <p:pic>
        <p:nvPicPr>
          <p:cNvPr id="14" name="Picture 13" descr="slide-b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4340" y="4892040"/>
            <a:ext cx="6649416" cy="141732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DynamoDB schemas + GSIs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600200"/>
          <a:ext cx="108813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37490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Table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Keys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GSI / extras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Purpose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product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storeId + storeProductId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counter row in-table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retailer product cache (linkgen sole writer)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recommendation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recommendationId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byOwner (ownerId, createdAt) + counter row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short-link projection + per-link stats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guest_attribution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guestId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guest -&gt; member carry-over at signup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poller_state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stateKey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order-poll cursor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unattributed_order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orderId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byState (state, firstSeenAt)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admin claim queue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runtime_config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configKey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kill switches (admin-console sole writer)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ops_counters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counterKey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exact counters + daily stats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fx_rate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pair (USD#ILS)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FX display-estimate 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1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otp_sink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phone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TTL 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parked OTP codes (admin view)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553212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B7B73"/>
                </a:solidFill>
                <a:latin typeface="Hanken Grotesk"/>
              </a:rPr>
              <a:t>All on-demand + PITR. Exact counters: the #counter sentinel row lives INSIDE the counted table — create/delete + ADD itemCount ride ONE same-table TransactWriteItems (sparse: no ownerId, so GSIs exclude it).</a:t>
            </a:r>
          </a:p>
          <a:p>
            <a:r>
              <a:rPr sz="1200">
                <a:solidFill>
                  <a:srgbClr val="6B7B73"/>
                </a:solidFill>
                <a:latin typeface="Hanken Grotesk"/>
              </a:rPr>
              <a:t>No cross-table transaction exists anywhere — cross-entity consistency is keys + idempotent writes, by design.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ADR map — locked: supersede, never edit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661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3_i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066544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80744" y="204825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Architecture · 0001-0009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06040"/>
            <a:ext cx="32004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0001  monorepo + Zod contracts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0002  compute seams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0003  polyglot data, no RDS Proxy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0004  NAT-free network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0005  single region + backups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0006  Cognito-native auth + PII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0007  landing path + latency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0008  attribution: custom_parameters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0009  poller, not webhook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661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20116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18_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2066544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75504" y="204825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Stack · 0010-0016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06040"/>
            <a:ext cx="32004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0010  ESM / Node 24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0011  Hono + Powertools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0012  Kysely + SQL migrations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0013  Vitest + Testcontainers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0014  Biome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0015  GitHub Actions OIDC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0016  Vite SPA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661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20116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18_i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3064" y="2066544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70264" y="204825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Extensions · 0017-0021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06040"/>
            <a:ext cx="32004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0017  currency + FX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0018  CloudFront front door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0019  WhatsApp messaging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0020  sub = canonical id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0021  retailer throttling (interim)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ADR-0002 + 0004 — compute seams and the NAT-free bet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15872" y="1618488"/>
            <a:ext cx="5959951" cy="453542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0464" y="1783080"/>
            <a:ext cx="5630767" cy="42062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ADR-0003 + 0006 — where data lives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9295" y="1664883"/>
            <a:ext cx="8833104" cy="297959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846320"/>
            <a:ext cx="10607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The customer table was dropped when PII moved to Cognito (migration 0006_money_only) — the ledger is keyed by the Cognito sub directly.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Admin user search runs on ListUsers (one-attribute filters); fine at MVP scale — dual-write projection is the escape hatch.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Trade-offs accepted: no SQL over PII, no PITR for the user pool, attribute changes have no built-in history.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B14</a:t>
            </a:r>
          </a:p>
        </p:txBody>
      </p:sp>
      <p:pic>
        <p:nvPicPr>
          <p:cNvPr id="11" name="Picture 10" descr="slide-b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5290" y="1829475"/>
            <a:ext cx="8441113" cy="2650409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Failure modes and recovery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4206240"/>
                <a:gridCol w="384048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Failure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Behavior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Recovery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Aurora cold resume (~20 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First wallet read after idle stalls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SPA fires /healthz/db warm-up probe on auth screens; 60 s connect timeout rides it out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AliExpress ApiCallLimit ban window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Poll heartbeat calls rejected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calls + one ban-window retry (ADR-0021); cursor unmoved → next beat replays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WhatsApp delivery down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OTP channel unavailable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Sticky-preference fallback to SMS; runtime-config kill switches; SNS spend cap bounds abuse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Settlement poll crash mid-batch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Partial writes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Cursor advances only after batch; ledger unique index + absolute stat SETs make replays no-ops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Notification invoke keeps failing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Welcome message undelivered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Lambda async retry x2 → real-payload SQS DLQ (redrivable); kill-switched skips return success and never DLQ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Cognito outage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No new logins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Static SPA still serves; landing redirect works for guests (DynamoDB-only path)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Rejected alternatives — the graveyard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777240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Alternative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 not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RDS Data API (no-VPC SQL)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— verified, killed the design branch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Lambda Function URLs for landing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→ HTTP API behind CloudFront /p/*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NAT + interface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Fixed monthly cost for idle capability; non-VPC chaining is $0 and least-privilege by construction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Cost + unneeded at 50-connection scale; revisit on connection-pressure alarm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Managed Login for customers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No Hebrew/RTL; passkey RP-ID silo on the auth subdomain (kept for the admin console, where it fits)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Conversion webhooks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Spoofable inbound money surface + no reliable retailer support; reconciliation poll is replayable and auditable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Self-minted session JWTs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A second token validation path across every API; Cognito stays the only issuer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Aurora customer table (PII in SQL)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Kept Aurora on the auth path and PII in two stores; moved to Cognito attributes (ADR-0006)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